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48" r:id="rId1"/>
  </p:sldMasterIdLst>
  <p:notesMasterIdLst>
    <p:notesMasterId r:id="rId30"/>
  </p:notesMasterIdLst>
  <p:sldIdLst>
    <p:sldId id="283" r:id="rId2"/>
    <p:sldId id="256" r:id="rId3"/>
    <p:sldId id="257" r:id="rId4"/>
    <p:sldId id="258" r:id="rId5"/>
    <p:sldId id="282"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Tickets Opened</c:v>
                </c:pt>
              </c:strCache>
            </c:strRef>
          </c:tx>
          <c:spPr>
            <a:ln w="25400" cap="flat">
              <a:solidFill>
                <a:srgbClr val="135CFD"/>
              </a:solidFill>
              <a:prstDash val="solid"/>
              <a:round/>
            </a:ln>
            <a:effectLst/>
          </c:spPr>
          <c:marker>
            <c:symbol val="circle"/>
            <c:size val="6"/>
            <c:spPr>
              <a:solidFill>
                <a:srgbClr val="135CFD"/>
              </a:solidFill>
              <a:ln w="9525" cap="flat">
                <a:solidFill>
                  <a:srgbClr val="135CFD"/>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85</c:v>
                </c:pt>
                <c:pt idx="1">
                  <c:v>78</c:v>
                </c:pt>
                <c:pt idx="2">
                  <c:v>72</c:v>
                </c:pt>
                <c:pt idx="3">
                  <c:v>80</c:v>
                </c:pt>
                <c:pt idx="4">
                  <c:v>68</c:v>
                </c:pt>
                <c:pt idx="5">
                  <c:v>65</c:v>
                </c:pt>
                <c:pt idx="6">
                  <c:v>70</c:v>
                </c:pt>
                <c:pt idx="7">
                  <c:v>62</c:v>
                </c:pt>
                <c:pt idx="8">
                  <c:v>58</c:v>
                </c:pt>
                <c:pt idx="9">
                  <c:v>64</c:v>
                </c:pt>
                <c:pt idx="10">
                  <c:v>55</c:v>
                </c:pt>
                <c:pt idx="11">
                  <c:v>50</c:v>
                </c:pt>
              </c:numCache>
            </c:numRef>
          </c:val>
          <c:smooth val="1"/>
          <c:extLst>
            <c:ext xmlns:c16="http://schemas.microsoft.com/office/drawing/2014/chart" uri="{C3380CC4-5D6E-409C-BE32-E72D297353CC}">
              <c16:uniqueId val="{00000000-69DA-E04A-925B-6D1C19C3F8EE}"/>
            </c:ext>
          </c:extLst>
        </c:ser>
        <c:ser>
          <c:idx val="1"/>
          <c:order val="1"/>
          <c:tx>
            <c:strRef>
              <c:f>Sheet1!$C$1</c:f>
              <c:strCache>
                <c:ptCount val="1"/>
                <c:pt idx="0">
                  <c:v>Tickets Resolved</c:v>
                </c:pt>
              </c:strCache>
            </c:strRef>
          </c:tx>
          <c:spPr>
            <a:ln w="25400" cap="flat">
              <a:solidFill>
                <a:srgbClr val="3CEEB6"/>
              </a:solidFill>
              <a:prstDash val="solid"/>
              <a:round/>
            </a:ln>
            <a:effectLst/>
          </c:spPr>
          <c:marker>
            <c:symbol val="circle"/>
            <c:size val="6"/>
            <c:spPr>
              <a:solidFill>
                <a:srgbClr val="3CEEB6"/>
              </a:solidFill>
              <a:ln w="9525" cap="flat">
                <a:solidFill>
                  <a:srgbClr val="3CEEB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82</c:v>
                </c:pt>
                <c:pt idx="1">
                  <c:v>80</c:v>
                </c:pt>
                <c:pt idx="2">
                  <c:v>74</c:v>
                </c:pt>
                <c:pt idx="3">
                  <c:v>78</c:v>
                </c:pt>
                <c:pt idx="4">
                  <c:v>70</c:v>
                </c:pt>
                <c:pt idx="5">
                  <c:v>67</c:v>
                </c:pt>
                <c:pt idx="6">
                  <c:v>72</c:v>
                </c:pt>
                <c:pt idx="7">
                  <c:v>64</c:v>
                </c:pt>
                <c:pt idx="8">
                  <c:v>60</c:v>
                </c:pt>
                <c:pt idx="9">
                  <c:v>65</c:v>
                </c:pt>
                <c:pt idx="10">
                  <c:v>58</c:v>
                </c:pt>
                <c:pt idx="11">
                  <c:v>52</c:v>
                </c:pt>
              </c:numCache>
            </c:numRef>
          </c:val>
          <c:smooth val="1"/>
          <c:extLst>
            <c:ext xmlns:c16="http://schemas.microsoft.com/office/drawing/2014/chart" uri="{C3380CC4-5D6E-409C-BE32-E72D297353CC}">
              <c16:uniqueId val="{00000001-69DA-E04A-925B-6D1C19C3F8E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Category</c:v>
                </c:pt>
              </c:strCache>
            </c:strRef>
          </c:tx>
          <c:spPr>
            <a:solidFill>
              <a:schemeClr val="accent1"/>
            </a:solidFill>
            <a:ln w="9525" cap="flat">
              <a:solidFill>
                <a:srgbClr val="F9F9F9"/>
              </a:solidFill>
              <a:prstDash val="solid"/>
              <a:round/>
            </a:ln>
            <a:effectLst/>
          </c:spPr>
          <c:dPt>
            <c:idx val="0"/>
            <c:bubble3D val="0"/>
            <c:spPr>
              <a:solidFill>
                <a:srgbClr val="135CFD"/>
              </a:solidFill>
              <a:effectLst/>
            </c:spPr>
            <c:extLst>
              <c:ext xmlns:c16="http://schemas.microsoft.com/office/drawing/2014/chart" uri="{C3380CC4-5D6E-409C-BE32-E72D297353CC}">
                <c16:uniqueId val="{00000001-8FF6-2B42-B447-C7AF99AAD33B}"/>
              </c:ext>
            </c:extLst>
          </c:dPt>
          <c:dPt>
            <c:idx val="1"/>
            <c:bubble3D val="0"/>
            <c:spPr>
              <a:solidFill>
                <a:srgbClr val="3CEEB6"/>
              </a:solidFill>
              <a:effectLst/>
            </c:spPr>
            <c:extLst>
              <c:ext xmlns:c16="http://schemas.microsoft.com/office/drawing/2014/chart" uri="{C3380CC4-5D6E-409C-BE32-E72D297353CC}">
                <c16:uniqueId val="{00000003-8FF6-2B42-B447-C7AF99AAD33B}"/>
              </c:ext>
            </c:extLst>
          </c:dPt>
          <c:dPt>
            <c:idx val="2"/>
            <c:bubble3D val="0"/>
            <c:spPr>
              <a:solidFill>
                <a:srgbClr val="8E0EB9"/>
              </a:solidFill>
              <a:effectLst/>
            </c:spPr>
            <c:extLst>
              <c:ext xmlns:c16="http://schemas.microsoft.com/office/drawing/2014/chart" uri="{C3380CC4-5D6E-409C-BE32-E72D297353CC}">
                <c16:uniqueId val="{00000005-8FF6-2B42-B447-C7AF99AAD33B}"/>
              </c:ext>
            </c:extLst>
          </c:dPt>
          <c:dPt>
            <c:idx val="3"/>
            <c:bubble3D val="0"/>
            <c:spPr>
              <a:solidFill>
                <a:srgbClr val="3CEEB6"/>
              </a:solidFill>
              <a:effectLst/>
            </c:spPr>
            <c:extLst>
              <c:ext xmlns:c16="http://schemas.microsoft.com/office/drawing/2014/chart" uri="{C3380CC4-5D6E-409C-BE32-E72D297353CC}">
                <c16:uniqueId val="{00000007-8FF6-2B42-B447-C7AF99AAD33B}"/>
              </c:ext>
            </c:extLst>
          </c:dPt>
          <c:dPt>
            <c:idx val="4"/>
            <c:bubble3D val="0"/>
            <c:spPr>
              <a:solidFill>
                <a:srgbClr val="3CEEB6"/>
              </a:solidFill>
              <a:effectLst/>
            </c:spPr>
            <c:extLst>
              <c:ext xmlns:c16="http://schemas.microsoft.com/office/drawing/2014/chart" uri="{C3380CC4-5D6E-409C-BE32-E72D297353CC}">
                <c16:uniqueId val="{00000009-8FF6-2B42-B447-C7AF99AAD33B}"/>
              </c:ext>
            </c:extLst>
          </c:dPt>
          <c:dPt>
            <c:idx val="5"/>
            <c:bubble3D val="0"/>
            <c:spPr>
              <a:solidFill>
                <a:srgbClr val="3CEEB6"/>
              </a:solidFill>
              <a:effectLst/>
            </c:spPr>
            <c:extLst>
              <c:ext xmlns:c16="http://schemas.microsoft.com/office/drawing/2014/chart" uri="{C3380CC4-5D6E-409C-BE32-E72D297353CC}">
                <c16:uniqueId val="{0000000B-8FF6-2B42-B447-C7AF99AAD33B}"/>
              </c:ext>
            </c:extLst>
          </c:dPt>
          <c:dPt>
            <c:idx val="6"/>
            <c:bubble3D val="0"/>
            <c:spPr>
              <a:solidFill>
                <a:srgbClr val="3CEEB6"/>
              </a:solidFill>
              <a:effectLst/>
            </c:spPr>
            <c:extLst>
              <c:ext xmlns:c16="http://schemas.microsoft.com/office/drawing/2014/chart" uri="{C3380CC4-5D6E-409C-BE32-E72D297353CC}">
                <c16:uniqueId val="{0000000D-8FF6-2B42-B447-C7AF99AAD33B}"/>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FF6-2B42-B447-C7AF99AAD33B}"/>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FF6-2B42-B447-C7AF99AAD33B}"/>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FF6-2B42-B447-C7AF99AAD33B}"/>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FF6-2B42-B447-C7AF99AAD33B}"/>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8FF6-2B42-B447-C7AF99AAD33B}"/>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8FF6-2B42-B447-C7AF99AAD33B}"/>
                </c:ext>
              </c:extLst>
            </c:dLbl>
            <c:dLbl>
              <c:idx val="6"/>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8FF6-2B42-B447-C7AF99AAD33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Network/Connectivity</c:v>
                </c:pt>
                <c:pt idx="1">
                  <c:v>User Access/Passwords</c:v>
                </c:pt>
                <c:pt idx="2">
                  <c:v>Hardware</c:v>
                </c:pt>
                <c:pt idx="3">
                  <c:v>Software/Applications</c:v>
                </c:pt>
                <c:pt idx="4">
                  <c:v>Email/Collaboration</c:v>
                </c:pt>
                <c:pt idx="5">
                  <c:v>Security Incidents</c:v>
                </c:pt>
                <c:pt idx="6">
                  <c:v>Other</c:v>
                </c:pt>
              </c:strCache>
            </c:strRef>
          </c:cat>
          <c:val>
            <c:numRef>
              <c:f>Sheet1!$B$2:$B$8</c:f>
              <c:numCache>
                <c:formatCode>General</c:formatCode>
                <c:ptCount val="7"/>
                <c:pt idx="0">
                  <c:v>22</c:v>
                </c:pt>
                <c:pt idx="1">
                  <c:v>18</c:v>
                </c:pt>
                <c:pt idx="2">
                  <c:v>15</c:v>
                </c:pt>
                <c:pt idx="3">
                  <c:v>20</c:v>
                </c:pt>
                <c:pt idx="4">
                  <c:v>12</c:v>
                </c:pt>
                <c:pt idx="5">
                  <c:v>8</c:v>
                </c:pt>
                <c:pt idx="6">
                  <c:v>5</c:v>
                </c:pt>
              </c:numCache>
            </c:numRef>
          </c:val>
          <c:extLst>
            <c:ext xmlns:c16="http://schemas.microsoft.com/office/drawing/2014/chart" uri="{C3380CC4-5D6E-409C-BE32-E72D297353CC}">
              <c16:uniqueId val="{0000000E-8FF6-2B42-B447-C7AF99AAD33B}"/>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Budget</c:v>
                </c:pt>
              </c:strCache>
            </c:strRef>
          </c:tx>
          <c:spPr>
            <a:solidFill>
              <a:srgbClr val="135CFD"/>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45</c:v>
                </c:pt>
                <c:pt idx="1">
                  <c:v>42</c:v>
                </c:pt>
                <c:pt idx="2">
                  <c:v>48</c:v>
                </c:pt>
                <c:pt idx="3">
                  <c:v>50</c:v>
                </c:pt>
              </c:numCache>
            </c:numRef>
          </c:val>
          <c:extLst>
            <c:ext xmlns:c16="http://schemas.microsoft.com/office/drawing/2014/chart" uri="{C3380CC4-5D6E-409C-BE32-E72D297353CC}">
              <c16:uniqueId val="{00000000-A542-C34F-AD22-AF00C095857F}"/>
            </c:ext>
          </c:extLst>
        </c:ser>
        <c:ser>
          <c:idx val="1"/>
          <c:order val="1"/>
          <c:tx>
            <c:strRef>
              <c:f>Sheet1!$C$1</c:f>
              <c:strCache>
                <c:ptCount val="1"/>
                <c:pt idx="0">
                  <c:v>Actual</c:v>
                </c:pt>
              </c:strCache>
            </c:strRef>
          </c:tx>
          <c:spPr>
            <a:solidFill>
              <a:srgbClr val="3CEEB6"/>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Sheet1!$C$2:$C$5</c:f>
              <c:numCache>
                <c:formatCode>General</c:formatCode>
                <c:ptCount val="4"/>
                <c:pt idx="0">
                  <c:v>43</c:v>
                </c:pt>
                <c:pt idx="1">
                  <c:v>44</c:v>
                </c:pt>
                <c:pt idx="2">
                  <c:v>46</c:v>
                </c:pt>
                <c:pt idx="3">
                  <c:v>0</c:v>
                </c:pt>
              </c:numCache>
            </c:numRef>
          </c:val>
          <c:extLst>
            <c:ext xmlns:c16="http://schemas.microsoft.com/office/drawing/2014/chart" uri="{C3380CC4-5D6E-409C-BE32-E72D297353CC}">
              <c16:uniqueId val="{00000001-A542-C34F-AD22-AF00C09585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3942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INSTRUCTION SLIDE — HIDE IT BEFORE PRESENTING.</a:t>
            </a:r>
            <a:br/>
            <a:br/>
            <a:r>
              <a:t>Right-click this slide in the slide panel → "Hide Slide" before you present or export to PDF.</a:t>
            </a:r>
            <a:br/>
            <a:br/>
            <a:r>
              <a:t>The entire deck is designed so that:</a:t>
            </a:r>
            <a:br/>
            <a:r>
              <a:t>1. Every placeholder is ___ — just click and type.</a:t>
            </a:r>
            <a:br/>
            <a:r>
              <a:t>2. Every metric has its data source printed right on the slide in gray text.</a:t>
            </a:r>
            <a:br/>
            <a:r>
              <a:t>3. Speaker notes (View &gt; Notes) have the full talk track + prep instructions.</a:t>
            </a:r>
            <a:br/>
            <a:r>
              <a:t>4. The Journey slide is the most important slide in the deck. It tells the value story over time.</a:t>
            </a:r>
            <a:br/>
            <a:br/>
            <a:r>
              <a:t>CADENCE:</a:t>
            </a:r>
            <a:br/>
            <a:r>
              <a:t>- Q1, Q2, Q3: Use the QBR deck</a:t>
            </a:r>
            <a:br/>
            <a:r>
              <a:t>- Q4: Use the ABR deck (includes Q4 data + annual wrap-up sections)</a:t>
            </a:r>
            <a:br/>
            <a:br/>
            <a:r>
              <a:t>PREP TIME:</a:t>
            </a:r>
            <a:br/>
            <a:r>
              <a:t>- First time: ~45 min to pull all data and fill placeholders</a:t>
            </a:r>
            <a:br/>
            <a:r>
              <a:t>- Repeat: ~20 min (most numbers come from the same 5 dashboards)</a:t>
            </a:r>
            <a:br/>
            <a:br/>
            <a:r>
              <a:t>SAVE YOUR WORK:</a:t>
            </a:r>
            <a:br/>
            <a:r>
              <a:t>- Save each completed deck as [Client]-QBR-[Quarter]-[Year].pptx</a:t>
            </a:r>
            <a:br/>
            <a:r>
              <a:t>- The prior deck is your source for the "Last Quarter" column next time</a:t>
            </a:r>
            <a:br/>
            <a:r>
              <a:t>- Baseline numbers are sacred — never change them</a:t>
            </a:r>
            <a:br/>
            <a:br/>
            <a:r>
              <a:t>Yours truly, Uncle Ben.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Client name from ConnectWise/Salesforce. Period from your reporting calendar.
TALK TRACK:
- "Thank you all for making time. I know your calendars are tight — we'll be respectful of that."
- Set expectations: "We'll cover performance, security, projects, and strategy. I'll keep it focused and leave time for discussion."
- Read the room. If C-suite is present, they want outcomes and dollars. IT directors want details. You can go deep or stay high — the notes on each slide will guide you.
- If there's a headline (big win, critical risk, budget ask), tease it: "There's one item I especially want your input on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No data needed — this is your roadmap for the meeting.
TALK TRACK:
- 10 seconds max. "Here's our agenda. Jump in anytime."
- For enterprise audiences, mention timing: "We've got about [45/60] minutes. I'll keep us on track."
- Ask: "Anything you want to make sure we cover?"
- SKIP TIP: If the meeting is running short, you can skip sections 7 (Lifecycle), 8 (Vendor), and 11 (Benchmarking) — they're the most "nice to have." Never skip Security, Risks, or Action Items.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Endpoints: NinjaRMM → Devices → filter by client/org. Count servers + workstations + network.
- SLA: ConnectWise → SLA compliance report for the quarter.
- Tickets: ConnectWise → Closed tickets this quarter. FCR = tickets resolved on first contact / total tickets.
- Secure Score: security.microsoft.com → Secure Score dashboard.
TALK TRACK:
- One sentence summary: "Across [X] endpoints at [X] locations, we're hitting our SLAs and your security posture is [strong/improving]."
- For C-suite: focus on SLA and Security Score. They care about "is IT working?" and "are we safe?"
- For IT directors: they'll want the FCR number and endpoint count. Give them the detail.
- If a number is off, flag it now: "SLA compliance dipped to [X]% — I'll explain why in the next section and what we've done about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BASELINE COLUMN: Pull from your onboarding documentation, initial assessment, or first NinjaRMM snapshot. If you don't have Day 1 numbers, use the earliest QBR data you have. Store these permanently in your QBR tracking spreadsheet — they NEVER change.</a:t>
            </a:r>
            <a:br/>
            <a:r>
              <a:t>- LAST QUARTER COLUMN: Copy from the previous QBR deck. This is why saving decks matters.</a:t>
            </a:r>
            <a:br/>
            <a:r>
              <a:t>- THIS QUARTER COLUMN: Pull fresh numbers right before the QBR:</a:t>
            </a:r>
            <a:br/>
            <a:r>
              <a:t>  * Secure Score: security.microsoft.com → Secure Score dashboard</a:t>
            </a:r>
            <a:br/>
            <a:r>
              <a:t>  * Duo MFA: Cisco Duo Admin Panel → Users → filter enrolled vs. unenrolled</a:t>
            </a:r>
            <a:br/>
            <a:r>
              <a:t>  * EDR Coverage: SentinelOne Console → Endpoints → managed vs. total known</a:t>
            </a:r>
            <a:br/>
            <a:r>
              <a:t>  * Patch Compliance: NinjaRMM → Patching → compliance % (OS + critical apps)</a:t>
            </a:r>
            <a:br/>
            <a:r>
              <a:t>  * Avg Tickets/Month: ConnectWise → Ticket Reports → total closed ÷ 3 months</a:t>
            </a:r>
            <a:br/>
            <a:r>
              <a:t>  * SLA Compliance: ConnectWise → SLA Reports → compliance % for the quarter</a:t>
            </a:r>
            <a:br/>
            <a:r>
              <a:t>- TREND: Compare This Quarter to Last Quarter. ↑ = improved, → = flat (within 2%), ↓ = declined.</a:t>
            </a:r>
            <a:br/>
            <a:br/>
            <a:r>
              <a:t>HOW TO TALK ABOUT IT:</a:t>
            </a:r>
            <a:br/>
            <a:r>
              <a:t>- THIS IS YOUR MOST IMPORTANT SLIDE. Everything else is details — this is the story.</a:t>
            </a:r>
            <a:br/>
            <a:r>
              <a:t>- Start with: "Before we get into the details, here's the big picture — where you started with us, where you were last quarter, and where you are right now."</a:t>
            </a:r>
            <a:br/>
            <a:r>
              <a:t>- If metrics are improving: "Your Secure Score went from [baseline] to [now]. That's [X] points of real risk reduction. That happened because we [specific work]."</a:t>
            </a:r>
            <a:br/>
            <a:r>
              <a:t>- If flat: "Patch compliance held at 97% for three quarters. That's not stagnation — that's operational discipline in a mature environment."</a:t>
            </a:r>
            <a:br/>
            <a:r>
              <a:t>- If declined: "Tickets/month went up. Here's why: [you added 15 users / migration / seasonal]. SLA compliance stayed high — we absorbed the growth."</a:t>
            </a:r>
            <a:br/>
            <a:r>
              <a:t>- CONNECT TO MONEY: "When we started, your Secure Score was 42. Today it's 78. That 36-point improvement directly protects your cyber insurance rates."</a:t>
            </a:r>
            <a:br/>
            <a:r>
              <a:t>- THE VALUE STATEMENT: "This is what the partnership delivers — not just keeping the lights on, but systematically making your IT stronger every quarter."</a:t>
            </a:r>
            <a:br/>
            <a:br/>
            <a:r>
              <a:t>FOR THE PREPARER:</a:t>
            </a:r>
            <a:br/>
            <a:r>
              <a:t>- Keep a running spreadsheet: 6 metrics × client × quarter. Takes 10 minutes to update.</a:t>
            </a:r>
            <a:br/>
            <a:r>
              <a:t>- This is your #1 retention tool. When renewal comes, this slide closes the deal.</a:t>
            </a:r>
            <a:br/>
            <a:r>
              <a:t>- If you're in Q1 with a new client, Baseline and This Quarter are the same — that's fine. The story starts building from Q2.</a:t>
            </a:r>
            <a:br/>
            <a:r>
              <a:t>- NEVER lose the baseline numbers. Screenshot them. Save them. They are irreplaceable.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"Let's look at how we performed against our commitments this quarter." That's it.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All metrics from ConnectWise → SLA report filtered by priority level and date range.
- YTD = cumulative average. Trend = compare this Q to last Q (↑ improving, → flat, ↓ declining).
- Uptime: NinjaRMM → Uptime reports or calculate from incident duration logs.
- Patch compliance: NinjaRMM → Patch reports → Time to deploy critical patches.
TALK TRACK:
- Don't read every row. "All seven metrics met. The trends are all flat or improving."
- If ALL green: "We're delivering on every commitment. No exceptions." Move on.
- If something missed: "We missed [metric] — here's why: [root cause]. Here's what we changed: [fix]. And here's where we are now: [current state]."
- Enterprise audiences care about TRENDS more than snapshots. "We've been consistently improving response times quarter over quarter."
- The YTD column tells the story. A bad quarter is forgivable if YTD is still strong.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ConnectWise → Ticket reports → Monthly opened vs. resolved, filtered by client. Replace sample data with actuals.
TALK TRACK:
- The story is the trend line, not the numbers. "Tickets are trending down — that's proactive management working."
- If the lines are converging: "We're keeping up with demand. No backlog building."
- If opened &gt; resolved in any month, explain it: "March spiked because of [event]. We caught up by April."
- For executives: "Fewer tickets = fewer disruptions for your team = more productive hours."
- SKIP TIP: If short on time, combine this with the previous slide verbally and skip ahead.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ConnectWise → Ticket reports → Group by category/type for the quarter. Replace sample data.
TALK TRACK:
- "Here's WHERE the tickets are coming from — this tells us where to focus proactive work."
- Call out the top 2-3 categories: "Network and software issues are your biggest drivers. Here's what we're doing about each."
- If password/access is high: "A lot of tickets are password resets. We can reduce this with [self-service portal / SSO / better MFA flow]."
- If security incidents are growing: flag it, but don't alarm. "Security incidents are at [X]% — we caught and handled all of them, but the trend tells us we should [recommendation]."
- SKIP TIP: This is a great slide for IT directors but optional for C-suite. Skip if time is tight.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let's look at the health of your actual environment — servers, network, cloud." Move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Servers: NinjaRMM → Devices → Servers (physical + VMs). Split on-prem vs. Azure/AWS.
- Workstations: NinjaRMM → Devices → Workstations. Avg age from purchase date in asset inventory or NinjaRMM.
- Network: NinjaRMM → Network devices. Count switches, APs, firewalls, routers.
- Cloud %: Count cloud-hosted workloads / total workloads. Or estimate based on services (M365, Azure AD, etc.).
TALK TRACK:
- "Here's the shape of your environment." Quick scan of the 4 numbers.
- If avg workstation age &gt; 4 years: "Some of your machines are aging — we'll cover refresh planning later."
- Cloud adoption is a conversation starter: "You're at [X]% cloud. Industry average is [Y]%. There may be an opportunity to [migrate X] for better resilience and cost."
- Keep it brief. This is context for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Status/Uptime: NinjaRMM monitoring dashboards for each system.
- Last Maintenance: Your change log or ConnectWise → completed maintenance tasks.
- Notes: Anything flagged in monitoring or by your techs. Storage % from server monitoring.
TALK TRACK:
- Scan for non-green items: "Everything is healthy except [system] — here's what's going on with that."
- For "Warning" items: explain in plain English. "Your [LOB app] has been sluggish. We've identified [cause] and the fix is [plan]."
- Backup/DR line is critical: "Your backups are current and we tested recovery on [date]. If worst case happens, we can recover in [X hours]."
- For IT directors: they'll want to drill into the Notes column. Be ready with details.
- For C-suite: "All systems green, one item we're watching, backups tested and working." Done.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"Security — this is where I want to spend some time." It signals importance without being dramatic.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Secure Score: security.microsoft.com. Industry avg from Microsoft's benchmark (shown in the dashboard).
- MFA: Cisco Duo Admin Panel → Users → Enrollment status + Authentication Log for adoption %.
- Endpoint Compliance: SentinelOne + Huntress coverage + NinjaRMM patch compliance.
- Security Incidents: ConnectWise → Tickets tagged "Security" for the quarter.
TALK TRACK:
- "Your security posture is [strong at X / improving from X to Y / needs attention at X]."
- Secure Score: "You're at [X], industry average is [Y]. [You're ahead / We have room to improve]. The top opportunities to improve are [list 2-3 from Microsoft's recommendations]."
- MFA: If &lt;100%, be direct. "Every account without Duo MFA is a liability. Pull the unenrolled users from Duo Admin. Who are the holdouts?"
- Security incidents: Normalize it. "We handled [X] incidents this quarter. All contained, no breaches. That's the system working as designed."
- This is the slide that justifies your security stack spend. Connect the dots.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HIPAA: Your last risk assessment results or compliance tool output.
- NIST/CIS: Map your controls to the framework. Tools like Secure Score partially map to NIST/CIS.
- Cyber Insurance: Review policy requirements checklist vs. your current controls.
- Only include frameworks that actually apply to this client. Delete rows that don't.
TALK TRACK:
- Lead with what matters most to THEM: "Your cyber insurance requires [X, Y, Z] — you're fully compliant."
- For healthcare clients: HIPAA is the lead. "You're at [X]% — the gaps are [summary] and here's our remediation timeline."
- Don't overwhelm with framework jargon. "Think of these as scorecards from different standards bodies. The important thing is: are there gaps that put you at risk? [Yes/No]. Here's where."
- SKIP TIP: For non-regulated industries, you can trim this to just Cyber Insurance + CIS Controls. Don't show frameworks that don't apply — it looks like filler.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"Let's shift to projects — what's in flight and what's coming up." Move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ConnectWise → Projects → Active projects for this client. Pull phase, completion %, budget status.
- Risk assessment: Your PM's judgment based on timeline, scope, and blockers.
- Include completed projects from this quarter — they're wins.
TALK TRACK:
- Walk through each project in 1-2 sentences. "Project 1 is on track, finishing [date]. Project 3 is over budget by 10% — here's why and what we're doing."
- Completed projects: Celebrate briefly. "This one's done, came in under budget. Nice work on both sides."
- For "High" risk items: be specific about what's needed. "This project needs [decision/resource/approval] from your side by [date] or we'll slip."
- Proposed projects: "These are on deck for next quarter, pending your approval."
- Enterprise clients expect project accountability. Don't gloss over budget overruns.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let's zoom out — here's where we think your IT should be heading over the next 12-24 months." This is your CTO moment.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Previous roadmap: Carry forward and update status.
- New items: From security gaps, infrastructure aging, client requests, and industry best practices.
- Estimates: Hours × rate + vendor quotes. Show ranges if uncertain ($15-25K).
- Business drivers: Tie every initiative to a business outcome (compliance, productivity, cost, risk).
TALK TRACK:
- "These are our recommendations ranked by urgency and impact. Let's walk through the top priorities."
- Critical/High items: Explain the "why" in business terms, not tech terms. "This firewall replacement isn't just a hardware swap — your current one goes end-of-life in [month], which means no more security patches. That's a compliance and insurance issue."
- For budget conversations: "We don't expect all of this at once. If we can fund the top 3, we've addressed the biggest risks."
- Ask for alignment: "Does this match where your business is heading? Are there priorities I'm missing?"
- The ROI/Impact column is what C-suite reads. Make it concrete: "Saves $40K/yr in licensing" or "Reduces recovery time from 8 hours to 30 minutes."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Asset inventory from NinjaRMM → Devices → Export with purchase date / warranty expiration.
- Age buckets: Calculate from purchase date. Current = &lt;3yr, Aging = 3-5yr, EOL = 5yr+.
- Refresh plans: Your recommendation for each category (e.g., "Replace 12 EOL workstations in Q3").
TALK TRACK:
- "This is the age profile of your hardware. The EOL column is what we need to plan for."
- If lots of EOL: "You have [X] devices past end-of-life. They're more likely to fail, can't be patched, and may void your cyber insurance. We need a refresh plan."
- Budget framing: "If we replace [X] devices per quarter at ~$[Y] each, that's $[Z]/quarter. Predictable and manageable."
- If everything's current: "Your hardware is in great shape. Nothing urgent for the next 12 months."
- SKIP TIP: If time is short and no EOL items, skip this slide entirely. It's informational.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Vendor contracts: Your contract tracker, ConnectWise, or accounting records.
- M365 licenses: Admin Center → Billing → Licenses. Compare assigned vs. active usage (Usage reports).
- Shadow IT: If you have Umbrella/Atakama, pull the report. Otherwise, check Umbrella or Atakama DNS logs.
TALK TRACK:
- Lead with the savings: "We found $[X]/year in optimization opportunities."
- License waste is the easy win: "You're paying for [X] M365 licenses nobody's using. Downgrading or removing those saves $[X] immediately."
- Shadow IT: "We found [X] apps your team is using that aren't approved or managed. That's a security and compliance risk."
- Renewals: "These are coming up — let's make sure we renegotiate [vendor] before auto-renewal kicks in."
- SKIP TIP: For C-suite, just hit the savings number. For IT directors, walk the details.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Budget: Client's approved IT budget (get from their finance team or your contract).
- Actual: Your billing records + vendor invoices + project costs for each quarter.
- Replace sample data with real numbers. Q4 = 0 if it hasn't happened yet.
TALK TRACK:
- "Here's where you're tracking against budget."
- If under budget: "You're under budget by $[X] YTD. That gives us room for [priority initiative] without exceeding plan."
- If over budget: Be transparent. "We're over by $[X] due to [unplanned project / emergency / scope change]. Here's what drove it."
- Frame the conversation around value, not just cost: "Your IT spend per employee is $[X]/month. For that you're getting [list what's included]."
- For CFOs: This is their slide. Be precise and be ready for questions about line items.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Carry forward risks from last QBR and update status.
- New risks from: security scans, infrastructure monitoring, compliance gaps, vendor changes, EOL notifications.
- Business impact statements: Translate technical risk to operational impact (downtime hours, data loss, compliance violation).
TALK TRACK:
- "These are the risks we're tracking. The colors tell you the severity."
- CRITICAL (red): "This one needs a decision. [Describe impact]. We're recommending [fix] at $[X]. Can we get approval to move on this?"
- HIGH (orange): "We have interim controls in place, but the permanent fix is in the roadmap for [quarter]."
- MEDIUM/LOW: Brief acknowledgment. "We're monitoring these. No action needed today."
- This is where you get buy-in for roadmap items. Risks drive urgency. "The firewall replacement on the roadmap? This is why."
- Don't list more than 5-6 risks. If you have more, roll up the LOWs into "additional items monitored."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IT spend as % of revenue: Client's IT budget / annual revenue. Industry benchmarks from Gartner, CompTIA, or Service Leadership.
- Endpoints per tech: Your ratio. Industry benchmark typically 150-250:1 for MSPs.
- MTTR: ConnectWise → average P1 resolution time. Benchmarks from industry reports or your MSP peer group.
- Secure Score percentile: Microsoft shows this in the Secure Score dashboard.
- Maturity: Your subjective assessment on a 1-5 scale across categories (security, infrastructure, cloud, process).
TALK TRACK:
- "Here's how you compare to similar organizations in your industry."
- If they're ahead: "You're outperforming peers in [area]. That's a competitive advantage."
- If they're behind: "Your IT spend is below industry average. That's not necessarily bad, but it means we're doing more with less — and there are areas where additional investment would have high impact."
- The maturity assessment is powerful for enterprise: "You're at a Level 3 overall. We're targeting Level 4 by next year. Here's what that takes."
- SKIP TIP: This is great for annual reviews but can be skipped in quarterly reviews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Pull from everything you've covered: security gaps, risks, aging infrastructure, compliance, and client goals.
- Each recommendation should tie to a specific slide you already showed. "Remember that risk we flagged? This addresses it."
TALK TRACK:
- "If you take away one slide from today, it's this one. These are the 5 things I'd prioritize."
- For each: ONE sentence on what, ONE sentence on why. "Implement conditional access [what] because it closes the biggest gap in your security posture [why]."
- Rank them. "If we can only do one, it's number 1. If we can do three, it's 1-2-3."
- Ask for commitment: "Which of these can we move forward on this quarter?"
- Don't over-explain. You've already laid the groundwork in previous slides. This is the summary.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Pre-load 3-4 items from your findings. Add more during the meeting.
- Carry forward anything incomplete from last QBR.
- Assign NAMES, not roles. Accountability requires a person.
TALK TRACK:
- "Let's lock in next steps. I want to make sure everyone's clear on who owns what."
- Read each one. Get verbal confirmation. "[Name], you're good with [action] by [date]?"
- Include YOUR action items. This is a partnership, not an assignment list.
- "I'll send this list to everyone today. We'll check in on Critical/High items in two weeks."
- If someone pushes back on a date, negotiate in the room. Don't leave with ambiguity.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Ticket log: ConnectWise → Full ticket export for the quarter.
- Asset inventory: NinjaRMM → Full device export.
- Patch compliance: NinjaRMM → Patch report by device.
- Security scans: Vulnerability scanner or SentinelOne → Latest scan report.
- Vendor contracts: Your contract tracker.
- Only include appendix items that were requested or referenced during the meeting.
TALK TRACK:
- "These are the backup details if anyone wants to dig deeper. I'll include them when I send the deck."
- Don't present the appendix. It's reference material. Just acknowledge it exists and move 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 "That's everything I had prepared. What questions do you have?"
- Wait. Really wait. Count to 5. The best questions come after an awkward pause.
- Before closing, ask:
  1. "Is there anything about our service that could be better?"
  2. "What's on your strategic horizon that we should be planning for?"
  3. "Is this meeting format working for you, or would you change anything?"
- Thank them specifically: "I appreciate [name] making time for this, and [name] for getting us the [data/access] we needed."
- Follow up within 24 hours:
  - Action items list (email, not just the deck)
  - This deck as PDF
  - Calendar invite for the next QBR
  - Follow-up meeting for any open decisions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chart" Target="../charts/chart3.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8686800" y="100000"/>
            <a:ext cx="320040" cy="320040"/>
          </a:xfrm>
          <a:prstGeom prst="rect">
            <a:avLst/>
          </a:prstGeom>
        </p:spPr>
      </p:pic>
      <p:sp>
        <p:nvSpPr>
          <p:cNvPr id="3" name="TextBox 2"/>
          <p:cNvSpPr txBox="1"/>
          <p:nvPr/>
        </p:nvSpPr>
        <p:spPr>
          <a:xfrm>
            <a:off x="731520" y="200000"/>
            <a:ext cx="7000000" cy="350000"/>
          </a:xfrm>
          <a:prstGeom prst="rect">
            <a:avLst/>
          </a:prstGeom>
          <a:noFill/>
        </p:spPr>
        <p:txBody>
          <a:bodyPr wrap="square">
            <a:spAutoFit/>
          </a:bodyPr>
          <a:lstStyle/>
          <a:p>
            <a:pPr algn="l">
              <a:defRPr sz="2400" b="1">
                <a:solidFill>
                  <a:srgbClr val="135CFD"/>
                </a:solidFill>
                <a:latin typeface="Open Sans"/>
              </a:defRPr>
            </a:pPr>
            <a:r>
              <a:t>HOW TO USE THIS DECK</a:t>
            </a:r>
          </a:p>
        </p:txBody>
      </p:sp>
      <p:sp>
        <p:nvSpPr>
          <p:cNvPr id="4" name="Rectangle 3"/>
          <p:cNvSpPr/>
          <p:nvPr/>
        </p:nvSpPr>
        <p:spPr>
          <a:xfrm>
            <a:off x="731520" y="520000"/>
            <a:ext cx="109728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580000"/>
            <a:ext cx="7500000" cy="200000"/>
          </a:xfrm>
          <a:prstGeom prst="rect">
            <a:avLst/>
          </a:prstGeom>
          <a:noFill/>
        </p:spPr>
        <p:txBody>
          <a:bodyPr wrap="square">
            <a:spAutoFit/>
          </a:bodyPr>
          <a:lstStyle/>
          <a:p>
            <a:pPr algn="l">
              <a:defRPr sz="1000" b="0">
                <a:solidFill>
                  <a:srgbClr val="666677"/>
                </a:solidFill>
                <a:latin typeface="Open Sans"/>
              </a:defRPr>
            </a:pPr>
            <a:r>
              <a:t>A prep guide for the QBR presenter  —  Hide this slide before presenting.</a:t>
            </a:r>
          </a:p>
        </p:txBody>
      </p:sp>
      <p:sp>
        <p:nvSpPr>
          <p:cNvPr id="6" name="Rounded Rectangle 5"/>
          <p:cNvSpPr/>
          <p:nvPr/>
        </p:nvSpPr>
        <p:spPr>
          <a:xfrm>
            <a:off x="400000" y="830000"/>
            <a:ext cx="4100000" cy="3100000"/>
          </a:xfrm>
          <a:prstGeom prst="roundRect">
            <a:avLst/>
          </a:prstGeom>
          <a:solidFill>
            <a:srgbClr val="F5F7FA"/>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00000" y="830000"/>
            <a:ext cx="4100000" cy="3657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0000" y="870000"/>
            <a:ext cx="3900000" cy="3000000"/>
          </a:xfrm>
          <a:prstGeom prst="rect">
            <a:avLst/>
          </a:prstGeom>
          <a:noFill/>
        </p:spPr>
        <p:txBody>
          <a:bodyPr wrap="square">
            <a:spAutoFit/>
          </a:bodyPr>
          <a:lstStyle/>
          <a:p>
            <a:pPr>
              <a:spcAft>
                <a:spcPts val="400"/>
              </a:spcAft>
              <a:defRPr sz="1100" b="1">
                <a:solidFill>
                  <a:srgbClr val="135CFD"/>
                </a:solidFill>
                <a:latin typeface="Open Sans"/>
              </a:defRPr>
            </a:pPr>
            <a:r>
              <a:t>BEFORE THE MEETING</a:t>
            </a:r>
          </a:p>
          <a:p>
            <a:pPr>
              <a:spcAft>
                <a:spcPts val="400"/>
              </a:spcAft>
              <a:defRPr sz="400" b="0">
                <a:solidFill>
                  <a:srgbClr val="666677"/>
                </a:solidFill>
                <a:latin typeface="Open Sans"/>
              </a:defRPr>
            </a:pPr>
            <a:endParaRPr/>
          </a:p>
          <a:p>
            <a:pPr>
              <a:spcAft>
                <a:spcPts val="400"/>
              </a:spcAft>
              <a:defRPr sz="800" b="0">
                <a:solidFill>
                  <a:srgbClr val="333333"/>
                </a:solidFill>
                <a:latin typeface="Open Sans"/>
              </a:defRPr>
            </a:pPr>
            <a:r>
              <a:t>1.  Open the deck and Save As with client name + date</a:t>
            </a:r>
          </a:p>
          <a:p>
            <a:pPr>
              <a:spcAft>
                <a:spcPts val="400"/>
              </a:spcAft>
              <a:defRPr sz="700" b="0">
                <a:solidFill>
                  <a:srgbClr val="666677"/>
                </a:solidFill>
                <a:latin typeface="Open Sans"/>
              </a:defRPr>
            </a:pPr>
            <a:r>
              <a:t>     e.g., DIT-QBR-Acme-Q2-2026.pptx</a:t>
            </a:r>
          </a:p>
          <a:p>
            <a:pPr>
              <a:spcAft>
                <a:spcPts val="400"/>
              </a:spcAft>
              <a:defRPr sz="300" b="0">
                <a:solidFill>
                  <a:srgbClr val="666677"/>
                </a:solidFill>
                <a:latin typeface="Open Sans"/>
              </a:defRPr>
            </a:pPr>
            <a:endParaRPr/>
          </a:p>
          <a:p>
            <a:pPr>
              <a:spcAft>
                <a:spcPts val="400"/>
              </a:spcAft>
              <a:defRPr sz="800" b="0">
                <a:solidFill>
                  <a:srgbClr val="333333"/>
                </a:solidFill>
                <a:latin typeface="Open Sans"/>
              </a:defRPr>
            </a:pPr>
            <a:r>
              <a:t>2.  Fill in every ___ placeholder. Sources are on each slide.</a:t>
            </a:r>
          </a:p>
          <a:p>
            <a:pPr>
              <a:spcAft>
                <a:spcPts val="400"/>
              </a:spcAft>
              <a:defRPr sz="700" b="0">
                <a:solidFill>
                  <a:srgbClr val="666677"/>
                </a:solidFill>
                <a:latin typeface="Open Sans"/>
              </a:defRPr>
            </a:pPr>
            <a:r>
              <a:t>     Just click the blank, type the number. That's it.</a:t>
            </a:r>
          </a:p>
          <a:p>
            <a:pPr>
              <a:spcAft>
                <a:spcPts val="400"/>
              </a:spcAft>
              <a:defRPr sz="300" b="0">
                <a:solidFill>
                  <a:srgbClr val="666677"/>
                </a:solidFill>
                <a:latin typeface="Open Sans"/>
              </a:defRPr>
            </a:pPr>
            <a:endParaRPr/>
          </a:p>
          <a:p>
            <a:pPr>
              <a:spcAft>
                <a:spcPts val="400"/>
              </a:spcAft>
              <a:defRPr sz="800" b="0">
                <a:solidFill>
                  <a:srgbClr val="333333"/>
                </a:solidFill>
                <a:latin typeface="Open Sans"/>
              </a:defRPr>
            </a:pPr>
            <a:r>
              <a:t>3.  Update the Journey slide (most important!):</a:t>
            </a:r>
          </a:p>
          <a:p>
            <a:pPr>
              <a:spcAft>
                <a:spcPts val="400"/>
              </a:spcAft>
              <a:defRPr sz="750" b="0">
                <a:solidFill>
                  <a:srgbClr val="333333"/>
                </a:solidFill>
                <a:latin typeface="Open Sans"/>
              </a:defRPr>
            </a:pPr>
            <a:r>
              <a:t>     •  Baseline = from onboarding (never changes)</a:t>
            </a:r>
          </a:p>
          <a:p>
            <a:pPr>
              <a:spcAft>
                <a:spcPts val="400"/>
              </a:spcAft>
              <a:defRPr sz="750" b="0">
                <a:solidFill>
                  <a:srgbClr val="333333"/>
                </a:solidFill>
                <a:latin typeface="Open Sans"/>
              </a:defRPr>
            </a:pPr>
            <a:r>
              <a:t>     •  Last Quarter = copy from prior QBR deck</a:t>
            </a:r>
          </a:p>
          <a:p>
            <a:pPr>
              <a:spcAft>
                <a:spcPts val="400"/>
              </a:spcAft>
              <a:defRPr sz="750" b="0">
                <a:solidFill>
                  <a:srgbClr val="333333"/>
                </a:solidFill>
                <a:latin typeface="Open Sans"/>
              </a:defRPr>
            </a:pPr>
            <a:r>
              <a:t>     •  This Quarter = pull fresh from each tool</a:t>
            </a:r>
          </a:p>
          <a:p>
            <a:pPr>
              <a:spcAft>
                <a:spcPts val="400"/>
              </a:spcAft>
              <a:defRPr sz="750" b="0">
                <a:solidFill>
                  <a:srgbClr val="333333"/>
                </a:solidFill>
                <a:latin typeface="Open Sans"/>
              </a:defRPr>
            </a:pPr>
            <a:r>
              <a:t>     •  Trend arrows = ↑ improved  → flat  ↓ declined</a:t>
            </a:r>
          </a:p>
          <a:p>
            <a:pPr>
              <a:spcAft>
                <a:spcPts val="400"/>
              </a:spcAft>
              <a:defRPr sz="300" b="0">
                <a:solidFill>
                  <a:srgbClr val="666677"/>
                </a:solidFill>
                <a:latin typeface="Open Sans"/>
              </a:defRPr>
            </a:pPr>
            <a:endParaRPr/>
          </a:p>
          <a:p>
            <a:pPr>
              <a:spcAft>
                <a:spcPts val="400"/>
              </a:spcAft>
              <a:defRPr sz="800" b="0">
                <a:solidFill>
                  <a:srgbClr val="333333"/>
                </a:solidFill>
                <a:latin typeface="Open Sans"/>
              </a:defRPr>
            </a:pPr>
            <a:r>
              <a:t>4.  Read the speaker notes (View &gt; Notes). They tell you</a:t>
            </a:r>
          </a:p>
          <a:p>
            <a:pPr>
              <a:spcAft>
                <a:spcPts val="400"/>
              </a:spcAft>
              <a:defRPr sz="700" b="0">
                <a:solidFill>
                  <a:srgbClr val="666677"/>
                </a:solidFill>
                <a:latin typeface="Open Sans"/>
              </a:defRPr>
            </a:pPr>
            <a:r>
              <a:t>     exactly where to get each number and how to present it.</a:t>
            </a:r>
          </a:p>
          <a:p>
            <a:pPr>
              <a:spcAft>
                <a:spcPts val="400"/>
              </a:spcAft>
              <a:defRPr sz="300" b="0">
                <a:solidFill>
                  <a:srgbClr val="666677"/>
                </a:solidFill>
                <a:latin typeface="Open Sans"/>
              </a:defRPr>
            </a:pPr>
            <a:endParaRPr/>
          </a:p>
          <a:p>
            <a:pPr>
              <a:spcAft>
                <a:spcPts val="400"/>
              </a:spcAft>
              <a:defRPr sz="800" b="0">
                <a:solidFill>
                  <a:srgbClr val="333333"/>
                </a:solidFill>
                <a:latin typeface="Open Sans"/>
              </a:defRPr>
            </a:pPr>
            <a:r>
              <a:t>5.  Delete or hide slides that don't apply to this client.</a:t>
            </a:r>
          </a:p>
          <a:p>
            <a:pPr>
              <a:spcAft>
                <a:spcPts val="400"/>
              </a:spcAft>
              <a:defRPr sz="700" b="0">
                <a:solidFill>
                  <a:srgbClr val="666677"/>
                </a:solidFill>
                <a:latin typeface="Open Sans"/>
              </a:defRPr>
            </a:pPr>
            <a:r>
              <a:t>     Not every client needs every section.</a:t>
            </a:r>
          </a:p>
          <a:p>
            <a:pPr>
              <a:spcAft>
                <a:spcPts val="400"/>
              </a:spcAft>
              <a:defRPr sz="300" b="0">
                <a:solidFill>
                  <a:srgbClr val="666677"/>
                </a:solidFill>
                <a:latin typeface="Open Sans"/>
              </a:defRPr>
            </a:pPr>
            <a:endParaRPr/>
          </a:p>
          <a:p>
            <a:pPr>
              <a:spcAft>
                <a:spcPts val="400"/>
              </a:spcAft>
              <a:defRPr sz="800" b="1">
                <a:solidFill>
                  <a:srgbClr val="8E0EB9"/>
                </a:solidFill>
                <a:latin typeface="Open Sans"/>
              </a:defRPr>
            </a:pPr>
            <a:r>
              <a:t>6.  Hide THIS slide before presenting.</a:t>
            </a:r>
          </a:p>
        </p:txBody>
      </p:sp>
      <p:sp>
        <p:nvSpPr>
          <p:cNvPr id="9" name="Rounded Rectangle 8"/>
          <p:cNvSpPr/>
          <p:nvPr/>
        </p:nvSpPr>
        <p:spPr>
          <a:xfrm>
            <a:off x="4650000" y="830000"/>
            <a:ext cx="4100000" cy="1600000"/>
          </a:xfrm>
          <a:prstGeom prst="roundRect">
            <a:avLst/>
          </a:prstGeom>
          <a:solidFill>
            <a:srgbClr val="F5F7FA"/>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50000" y="830000"/>
            <a:ext cx="4100000" cy="3657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0000" y="870000"/>
            <a:ext cx="3900000" cy="1500000"/>
          </a:xfrm>
          <a:prstGeom prst="rect">
            <a:avLst/>
          </a:prstGeom>
          <a:noFill/>
        </p:spPr>
        <p:txBody>
          <a:bodyPr wrap="square">
            <a:spAutoFit/>
          </a:bodyPr>
          <a:lstStyle/>
          <a:p>
            <a:pPr>
              <a:spcAft>
                <a:spcPts val="400"/>
              </a:spcAft>
              <a:defRPr sz="1100" b="1">
                <a:solidFill>
                  <a:srgbClr val="3CEEB6"/>
                </a:solidFill>
                <a:latin typeface="Open Sans"/>
              </a:defRPr>
            </a:pPr>
            <a:r>
              <a:t>DURING THE MEETING</a:t>
            </a:r>
          </a:p>
          <a:p>
            <a:pPr>
              <a:spcAft>
                <a:spcPts val="400"/>
              </a:spcAft>
              <a:defRPr sz="400" b="0">
                <a:solidFill>
                  <a:srgbClr val="666677"/>
                </a:solidFill>
                <a:latin typeface="Open Sans"/>
              </a:defRPr>
            </a:pPr>
            <a:endParaRPr/>
          </a:p>
          <a:p>
            <a:pPr>
              <a:spcAft>
                <a:spcPts val="400"/>
              </a:spcAft>
              <a:defRPr sz="800" b="0">
                <a:solidFill>
                  <a:srgbClr val="333333"/>
                </a:solidFill>
                <a:latin typeface="Open Sans"/>
              </a:defRPr>
            </a:pPr>
            <a:r>
              <a:t>•  Don't read the slides. They're for the client to glance at.</a:t>
            </a:r>
          </a:p>
          <a:p>
            <a:pPr>
              <a:spcAft>
                <a:spcPts val="400"/>
              </a:spcAft>
              <a:defRPr sz="800" b="0">
                <a:solidFill>
                  <a:srgbClr val="333333"/>
                </a:solidFill>
                <a:latin typeface="Open Sans"/>
              </a:defRPr>
            </a:pPr>
            <a:r>
              <a:t>•  Tell the STORY. The notes give you the talk track.</a:t>
            </a:r>
          </a:p>
          <a:p>
            <a:pPr>
              <a:spcAft>
                <a:spcPts val="400"/>
              </a:spcAft>
              <a:defRPr sz="800" b="0">
                <a:solidFill>
                  <a:srgbClr val="333333"/>
                </a:solidFill>
                <a:latin typeface="Open Sans"/>
              </a:defRPr>
            </a:pPr>
            <a:r>
              <a:t>•  Improving metric = celebrate briefly, move on.</a:t>
            </a:r>
          </a:p>
          <a:p>
            <a:pPr>
              <a:spcAft>
                <a:spcPts val="400"/>
              </a:spcAft>
              <a:defRPr sz="800" b="0">
                <a:solidFill>
                  <a:srgbClr val="333333"/>
                </a:solidFill>
                <a:latin typeface="Open Sans"/>
              </a:defRPr>
            </a:pPr>
            <a:r>
              <a:t>•  Declining metric = own it, explain why, show the plan.</a:t>
            </a:r>
          </a:p>
          <a:p>
            <a:pPr>
              <a:spcAft>
                <a:spcPts val="400"/>
              </a:spcAft>
              <a:defRPr sz="800" b="0">
                <a:solidFill>
                  <a:srgbClr val="333333"/>
                </a:solidFill>
                <a:latin typeface="Open Sans"/>
              </a:defRPr>
            </a:pPr>
            <a:r>
              <a:t>•  Ask questions. "Does this match what your team sees?"</a:t>
            </a:r>
          </a:p>
          <a:p>
            <a:pPr>
              <a:spcAft>
                <a:spcPts val="400"/>
              </a:spcAft>
              <a:defRPr sz="800" b="0">
                <a:solidFill>
                  <a:srgbClr val="333333"/>
                </a:solidFill>
                <a:latin typeface="Open Sans"/>
              </a:defRPr>
            </a:pPr>
            <a:r>
              <a:t>•  Action Items slide: fill in LIVE during the meeting.</a:t>
            </a:r>
          </a:p>
          <a:p>
            <a:pPr>
              <a:spcAft>
                <a:spcPts val="400"/>
              </a:spcAft>
              <a:defRPr sz="800" b="0">
                <a:solidFill>
                  <a:srgbClr val="333333"/>
                </a:solidFill>
                <a:latin typeface="Open Sans"/>
              </a:defRPr>
            </a:pPr>
            <a:r>
              <a:t>•  End with: "What questions do you have?" Then WAIT.</a:t>
            </a:r>
          </a:p>
        </p:txBody>
      </p:sp>
      <p:sp>
        <p:nvSpPr>
          <p:cNvPr id="12" name="Rounded Rectangle 11"/>
          <p:cNvSpPr/>
          <p:nvPr/>
        </p:nvSpPr>
        <p:spPr>
          <a:xfrm>
            <a:off x="4650000" y="2530000"/>
            <a:ext cx="4100000" cy="1400000"/>
          </a:xfrm>
          <a:prstGeom prst="roundRect">
            <a:avLst/>
          </a:prstGeom>
          <a:solidFill>
            <a:srgbClr val="F5F7FA"/>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50000" y="2530000"/>
            <a:ext cx="4100000" cy="36576"/>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0000" y="2570000"/>
            <a:ext cx="3900000" cy="1300000"/>
          </a:xfrm>
          <a:prstGeom prst="rect">
            <a:avLst/>
          </a:prstGeom>
          <a:noFill/>
        </p:spPr>
        <p:txBody>
          <a:bodyPr wrap="square">
            <a:spAutoFit/>
          </a:bodyPr>
          <a:lstStyle/>
          <a:p>
            <a:pPr>
              <a:spcAft>
                <a:spcPts val="400"/>
              </a:spcAft>
              <a:defRPr sz="1100" b="1">
                <a:solidFill>
                  <a:srgbClr val="8E0EB9"/>
                </a:solidFill>
                <a:latin typeface="Open Sans"/>
              </a:defRPr>
            </a:pPr>
            <a:r>
              <a:t>AFTER THE MEETING</a:t>
            </a:r>
          </a:p>
          <a:p>
            <a:pPr>
              <a:spcAft>
                <a:spcPts val="400"/>
              </a:spcAft>
              <a:defRPr sz="400" b="0">
                <a:solidFill>
                  <a:srgbClr val="666677"/>
                </a:solidFill>
                <a:latin typeface="Open Sans"/>
              </a:defRPr>
            </a:pPr>
            <a:endParaRPr/>
          </a:p>
          <a:p>
            <a:pPr>
              <a:spcAft>
                <a:spcPts val="400"/>
              </a:spcAft>
              <a:defRPr sz="800" b="0">
                <a:solidFill>
                  <a:srgbClr val="333333"/>
                </a:solidFill>
                <a:latin typeface="Open Sans"/>
              </a:defRPr>
            </a:pPr>
            <a:r>
              <a:t>•  Send deck as PDF + action items email within 24 hours.</a:t>
            </a:r>
          </a:p>
          <a:p>
            <a:pPr>
              <a:spcAft>
                <a:spcPts val="400"/>
              </a:spcAft>
              <a:defRPr sz="800" b="0">
                <a:solidFill>
                  <a:srgbClr val="333333"/>
                </a:solidFill>
                <a:latin typeface="Open Sans"/>
              </a:defRPr>
            </a:pPr>
            <a:r>
              <a:t>•  Save this deck in the client folder (it's next Q's source).</a:t>
            </a:r>
          </a:p>
          <a:p>
            <a:pPr>
              <a:spcAft>
                <a:spcPts val="400"/>
              </a:spcAft>
              <a:defRPr sz="800" b="0">
                <a:solidFill>
                  <a:srgbClr val="333333"/>
                </a:solidFill>
                <a:latin typeface="Open Sans"/>
              </a:defRPr>
            </a:pPr>
            <a:r>
              <a:t>•  Update your tracking spreadsheet with this Q's metrics.</a:t>
            </a:r>
          </a:p>
          <a:p>
            <a:pPr>
              <a:spcAft>
                <a:spcPts val="400"/>
              </a:spcAft>
              <a:defRPr sz="800" b="0">
                <a:solidFill>
                  <a:srgbClr val="333333"/>
                </a:solidFill>
                <a:latin typeface="Open Sans"/>
              </a:defRPr>
            </a:pPr>
            <a:r>
              <a:t>•  Calendar the next QBR now. Don't let it slip.</a:t>
            </a:r>
          </a:p>
          <a:p>
            <a:pPr>
              <a:spcAft>
                <a:spcPts val="400"/>
              </a:spcAft>
              <a:defRPr sz="800" b="0">
                <a:solidFill>
                  <a:srgbClr val="333333"/>
                </a:solidFill>
                <a:latin typeface="Open Sans"/>
              </a:defRPr>
            </a:pPr>
            <a:r>
              <a:t>•  Follow up on high-priority action items in 2 weeks.</a:t>
            </a:r>
          </a:p>
        </p:txBody>
      </p:sp>
      <p:sp>
        <p:nvSpPr>
          <p:cNvPr id="15" name="TextBox 14"/>
          <p:cNvSpPr txBox="1"/>
          <p:nvPr/>
        </p:nvSpPr>
        <p:spPr>
          <a:xfrm>
            <a:off x="400000" y="4000000"/>
            <a:ext cx="8300000" cy="250000"/>
          </a:xfrm>
          <a:prstGeom prst="rect">
            <a:avLst/>
          </a:prstGeom>
          <a:noFill/>
        </p:spPr>
        <p:txBody>
          <a:bodyPr wrap="square">
            <a:spAutoFit/>
          </a:bodyPr>
          <a:lstStyle/>
          <a:p>
            <a:pPr algn="l">
              <a:defRPr sz="650" b="0">
                <a:solidFill>
                  <a:srgbClr val="666677"/>
                </a:solidFill>
                <a:latin typeface="Open Sans"/>
              </a:defRPr>
            </a:pPr>
            <a:r>
              <a:t>QUICK REFERENCE:  NinjaRMM = endpoints, patching, alerts, uptime, backup  |  ConnectWise = tickets, SLA, projects, agreements, billing  |  SentinelOne = EDR coverage, threats  |  Huntress = ITDR, incidents  |  Cisco Duo = MFA enrollment, auth logs  |  M365 Security Center = Secure Score  |  Entra ID = Conditional Access  |  Umbrella/Atakama = DNS security, shadow IT</a:t>
            </a:r>
          </a:p>
        </p:txBody>
      </p:sp>
      <p:sp>
        <p:nvSpPr>
          <p:cNvPr id="16" name="TextBox 15"/>
          <p:cNvSpPr txBox="1"/>
          <p:nvPr/>
        </p:nvSpPr>
        <p:spPr>
          <a:xfrm>
            <a:off x="5500000" y="4300000"/>
            <a:ext cx="3500000" cy="568810"/>
          </a:xfrm>
          <a:prstGeom prst="rect">
            <a:avLst/>
          </a:prstGeom>
          <a:noFill/>
        </p:spPr>
        <p:txBody>
          <a:bodyPr wrap="square">
            <a:spAutoFit/>
          </a:bodyPr>
          <a:lstStyle/>
          <a:p>
            <a:pPr algn="r">
              <a:defRPr sz="1100" b="1">
                <a:solidFill>
                  <a:srgbClr val="135CFD"/>
                </a:solidFill>
                <a:latin typeface="Open Sans"/>
              </a:defRPr>
            </a:pPr>
            <a:r>
              <a:rPr dirty="0">
                <a:latin typeface="Zapfino" panose="03030300040707070C03" pitchFamily="66" charset="77"/>
              </a:rPr>
              <a:t>Yours truly, Uncle Ben.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B2755"/>
        </a:solidFill>
        <a:effectLst/>
      </p:bgPr>
    </p:bg>
    <p:spTree>
      <p:nvGrpSpPr>
        <p:cNvPr id="1" name=""/>
        <p:cNvGrpSpPr/>
        <p:nvPr/>
      </p:nvGrpSpPr>
      <p:grpSpPr>
        <a:xfrm>
          <a:off x="0" y="0"/>
          <a:ext cx="0" cy="0"/>
          <a:chOff x="0" y="0"/>
          <a:chExt cx="0" cy="0"/>
        </a:xfrm>
      </p:grpSpPr>
      <p:sp>
        <p:nvSpPr>
          <p:cNvPr id="7" name="Oval 6"/>
          <p:cNvSpPr/>
          <p:nvPr/>
        </p:nvSpPr>
        <p:spPr>
          <a:xfrm>
            <a:off x="5000000" y="-1200000"/>
            <a:ext cx="6000000" cy="6000000"/>
          </a:xfrm>
          <a:prstGeom prst="ellipse">
            <a:avLst/>
          </a:prstGeom>
          <a:solidFill>
            <a:srgbClr val="1F2E62">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300000" y="100000"/>
            <a:ext cx="3400000" cy="3400000"/>
          </a:xfrm>
          <a:prstGeom prst="ellipse">
            <a:avLst/>
          </a:prstGeom>
          <a:solidFill>
            <a:srgbClr val="1B2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00000" y="4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00000" y="13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00000" y="22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00000" y="31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00000" y="40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00000" y="200000"/>
            <a:ext cx="6858" cy="4500000"/>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000" y="200000"/>
            <a:ext cx="6858" cy="4500000"/>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400000" y="200000"/>
            <a:ext cx="6858" cy="4500000"/>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00000" y="200000"/>
            <a:ext cx="6858" cy="4500000"/>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0"/>
            <a:ext cx="45720" cy="51435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 y="0"/>
            <a:ext cx="18288" cy="51435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400000" y="13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00000" y="22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00000" y="4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400000" y="31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400000" y="31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0000" y="41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0000" y="41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0000" y="42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00000" y="41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00000" y="42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00" cy="54864"/>
          </a:xfrm>
          <a:prstGeom prst="rect">
            <a:avLst/>
          </a:prstGeom>
          <a:solidFill>
            <a:srgbClr val="3CEEB6"/>
          </a:solidFill>
          <a:ln/>
        </p:spPr>
        <p:txBody>
          <a:bodyPr/>
          <a:lstStyle/>
          <a:p>
            <a:endParaRPr/>
          </a:p>
        </p:txBody>
      </p:sp>
      <p:sp>
        <p:nvSpPr>
          <p:cNvPr id="4" name="Text 2"/>
          <p:cNvSpPr/>
          <p:nvPr/>
        </p:nvSpPr>
        <p:spPr>
          <a:xfrm>
            <a:off x="731520" y="1463040"/>
            <a:ext cx="7680960" cy="1463040"/>
          </a:xfrm>
          <a:prstGeom prst="rect">
            <a:avLst/>
          </a:prstGeom>
          <a:noFill/>
          <a:ln/>
        </p:spPr>
        <p:txBody>
          <a:bodyPr wrap="square" lIns="0" tIns="0" rIns="0" bIns="0" rtlCol="0" anchor="ctr"/>
          <a:lstStyle/>
          <a:p>
            <a:pPr marL="0" indent="0">
              <a:buNone/>
            </a:pPr>
            <a:r>
              <a:rPr lang="en-US" sz="3600" b="1" dirty="0">
                <a:solidFill>
                  <a:srgbClr val="FFFFFF"/>
                </a:solidFill>
                <a:latin typeface="Open Sans" pitchFamily="34" charset="0"/>
                <a:ea typeface="Open Sans" pitchFamily="34" charset="-122"/>
                <a:cs typeface="Open Sans" pitchFamily="34" charset="-120"/>
              </a:rPr>
              <a:t>Quarterly / Annual</a:t>
            </a:r>
            <a:endParaRPr lang="en-US" sz="3600" dirty="0"/>
          </a:p>
          <a:p>
            <a:pPr marL="0" indent="0">
              <a:buNone/>
            </a:pPr>
            <a:r>
              <a:rPr lang="en-US" sz="3600" b="1" dirty="0">
                <a:solidFill>
                  <a:srgbClr val="FFFFFF"/>
                </a:solidFill>
                <a:latin typeface="Open Sans" pitchFamily="34" charset="0"/>
                <a:ea typeface="Open Sans" pitchFamily="34" charset="-122"/>
                <a:cs typeface="Open Sans" pitchFamily="34" charset="-120"/>
              </a:rPr>
              <a:t>Business Review</a:t>
            </a:r>
            <a:endParaRPr lang="en-US" sz="3600" dirty="0"/>
          </a:p>
        </p:txBody>
      </p:sp>
      <p:sp>
        <p:nvSpPr>
          <p:cNvPr id="5" name="Text 3"/>
          <p:cNvSpPr/>
          <p:nvPr/>
        </p:nvSpPr>
        <p:spPr>
          <a:xfrm>
            <a:off x="731520" y="3200400"/>
            <a:ext cx="7680960" cy="914400"/>
          </a:xfrm>
          <a:prstGeom prst="rect">
            <a:avLst/>
          </a:prstGeom>
          <a:noFill/>
          <a:ln/>
        </p:spPr>
        <p:txBody>
          <a:bodyPr wrap="square" lIns="0" tIns="0" rIns="0" bIns="0" rtlCol="0" anchor="ctr"/>
          <a:lstStyle/>
          <a:p>
            <a:pPr marL="0" indent="0">
              <a:buNone/>
            </a:pPr>
            <a:r>
              <a:rPr lang="en-US" sz="1600" dirty="0">
                <a:solidFill>
                  <a:srgbClr val="3CEEB6"/>
                </a:solidFill>
                <a:latin typeface="Open Sans" pitchFamily="34" charset="0"/>
                <a:ea typeface="Open Sans" pitchFamily="34" charset="-122"/>
                <a:cs typeface="Open Sans" pitchFamily="34" charset="-120"/>
              </a:rPr>
              <a:t>[Quarter] [Year]  |  [Fiscal Year]</a:t>
            </a:r>
            <a:endParaRPr lang="en-US" sz="1600" dirty="0"/>
          </a:p>
          <a:p>
            <a:pPr marL="0" indent="0">
              <a:buNone/>
            </a:pPr>
            <a:endParaRPr lang="en-US" sz="1600" dirty="0"/>
          </a:p>
          <a:p>
            <a:pPr marL="0" indent="0">
              <a:buNone/>
            </a:pPr>
            <a:r>
              <a:rPr lang="en-US" sz="1400" dirty="0">
                <a:solidFill>
                  <a:srgbClr val="FFFFFF"/>
                </a:solidFill>
                <a:latin typeface="Open Sans" pitchFamily="34" charset="0"/>
                <a:ea typeface="Open Sans" pitchFamily="34" charset="-122"/>
                <a:cs typeface="Open Sans" pitchFamily="34" charset="-120"/>
              </a:rPr>
              <a:t>Prepared for [Client Name]</a:t>
            </a:r>
            <a:endParaRPr lang="en-US" sz="1600" dirty="0"/>
          </a:p>
        </p:txBody>
      </p:sp>
      <p:sp>
        <p:nvSpPr>
          <p:cNvPr id="6" name="Shape 4"/>
          <p:cNvSpPr/>
          <p:nvPr/>
        </p:nvSpPr>
        <p:spPr>
          <a:xfrm>
            <a:off x="0" y="4960620"/>
            <a:ext cx="9144000" cy="182880"/>
          </a:xfrm>
          <a:prstGeom prst="rect">
            <a:avLst/>
          </a:prstGeom>
          <a:solidFill>
            <a:srgbClr val="3CEEB6"/>
          </a:solidFill>
          <a:ln/>
        </p:spPr>
        <p:txBody>
          <a:bodyPr/>
          <a:lstStyle/>
          <a:p>
            <a:endParaRPr/>
          </a:p>
        </p:txBody>
      </p:sp>
      <p:pic>
        <p:nvPicPr>
          <p:cNvPr id="30" name="Picture 29" descr="DIT_Logo - Full White.png"/>
          <p:cNvPicPr>
            <a:picLocks noChangeAspect="1"/>
          </p:cNvPicPr>
          <p:nvPr/>
        </p:nvPicPr>
        <p:blipFill>
          <a:blip r:embed="rId3"/>
          <a:stretch>
            <a:fillRect/>
          </a:stretch>
        </p:blipFill>
        <p:spPr>
          <a:xfrm>
            <a:off x="731520" y="320040"/>
            <a:ext cx="1609344" cy="228600"/>
          </a:xfrm>
          <a:prstGeom prst="rect">
            <a:avLst/>
          </a:prstGeom>
        </p:spPr>
      </p:pic>
      <p:sp>
        <p:nvSpPr>
          <p:cNvPr id="31" name="Rectangle 30"/>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35" name="TextBox 34"/>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Rounded Rectangle 4"/>
          <p:cNvSpPr/>
          <p:nvPr/>
        </p:nvSpPr>
        <p:spPr>
          <a:xfrm>
            <a:off x="8100000" y="400000"/>
            <a:ext cx="900000" cy="4200000"/>
          </a:xfrm>
          <a:prstGeom prst="roundRect">
            <a:avLst/>
          </a:prstGeom>
          <a:solidFill>
            <a:srgbClr val="162048">
              <a:alpha val="3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00000" y="6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516000" y="63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500000" y="105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516000" y="108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500000" y="15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16000" y="153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00000" y="195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16000" y="198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500000" y="24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516000" y="243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500000" y="285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516000" y="288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500000" y="33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16000" y="333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500000" y="375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516000" y="378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00000" y="42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00" y="1300000"/>
            <a:ext cx="27432" cy="3200000"/>
          </a:xfrm>
          <a:prstGeom prst="rect">
            <a:avLst/>
          </a:prstGeom>
          <a:solidFill>
            <a:srgbClr val="3CEEB6">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644000" y="0"/>
            <a:ext cx="5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800" b="1" dirty="0">
                <a:solidFill>
                  <a:srgbClr val="135CFD"/>
                </a:solidFill>
                <a:latin typeface="Open Sans" pitchFamily="34" charset="0"/>
                <a:ea typeface="Open Sans" pitchFamily="34" charset="-122"/>
                <a:cs typeface="Open Sans" pitchFamily="34" charset="-120"/>
              </a:rPr>
              <a:t>AGENDA</a:t>
            </a:r>
            <a:endParaRPr lang="en-US" sz="2800" dirty="0"/>
          </a:p>
        </p:txBody>
      </p:sp>
      <p:sp>
        <p:nvSpPr>
          <p:cNvPr id="3" name="Shape 1"/>
          <p:cNvSpPr/>
          <p:nvPr/>
        </p:nvSpPr>
        <p:spPr>
          <a:xfrm>
            <a:off x="731520" y="1005840"/>
            <a:ext cx="1097280" cy="36576"/>
          </a:xfrm>
          <a:prstGeom prst="rect">
            <a:avLst/>
          </a:prstGeom>
          <a:solidFill>
            <a:srgbClr val="3CEEB6"/>
          </a:solidFill>
          <a:ln/>
        </p:spPr>
        <p:txBody>
          <a:bodyPr/>
          <a:lstStyle/>
          <a:p>
            <a:endParaRPr/>
          </a:p>
        </p:txBody>
      </p:sp>
      <p:sp>
        <p:nvSpPr>
          <p:cNvPr id="4" name="Text 2"/>
          <p:cNvSpPr/>
          <p:nvPr/>
        </p:nvSpPr>
        <p:spPr>
          <a:xfrm>
            <a:off x="731520" y="1371600"/>
            <a:ext cx="7680960" cy="3474720"/>
          </a:xfrm>
          <a:prstGeom prst="rect">
            <a:avLst/>
          </a:prstGeom>
          <a:noFill/>
          <a:ln/>
        </p:spPr>
        <p:txBody>
          <a:bodyPr wrap="square" lIns="0" tIns="0" rIns="0" bIns="0" rtlCol="0" anchor="t"/>
          <a:lstStyle/>
          <a:p>
            <a:pPr marL="0" indent="0">
              <a:buNone/>
            </a:pPr>
            <a:r>
              <a:rPr lang="en-US" sz="1600" b="1" dirty="0">
                <a:solidFill>
                  <a:srgbClr val="3CEEB6"/>
                </a:solidFill>
                <a:latin typeface="Open Sans" pitchFamily="34" charset="0"/>
                <a:ea typeface="Open Sans" pitchFamily="34" charset="-122"/>
                <a:cs typeface="Open Sans" pitchFamily="34" charset="-120"/>
              </a:rPr>
              <a:t>01  </a:t>
            </a:r>
            <a:r>
              <a:rPr lang="en-US" sz="1600" dirty="0">
                <a:solidFill>
                  <a:srgbClr val="1B2755"/>
                </a:solidFill>
                <a:latin typeface="Open Sans" pitchFamily="34" charset="0"/>
                <a:ea typeface="Open Sans" pitchFamily="34" charset="-122"/>
                <a:cs typeface="Open Sans" pitchFamily="34" charset="-120"/>
              </a:rPr>
              <a:t>Executive Summary</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02  </a:t>
            </a:r>
            <a:r>
              <a:rPr lang="en-US" sz="1600" dirty="0">
                <a:solidFill>
                  <a:srgbClr val="1B2755"/>
                </a:solidFill>
                <a:latin typeface="Open Sans" pitchFamily="34" charset="0"/>
                <a:ea typeface="Open Sans" pitchFamily="34" charset="-122"/>
                <a:cs typeface="Open Sans" pitchFamily="34" charset="-120"/>
              </a:rPr>
              <a:t>Service Level Performance &amp; Incident Analysis</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03  </a:t>
            </a:r>
            <a:r>
              <a:rPr lang="en-US" sz="1600" dirty="0">
                <a:solidFill>
                  <a:srgbClr val="1B2755"/>
                </a:solidFill>
                <a:latin typeface="Open Sans" pitchFamily="34" charset="0"/>
                <a:ea typeface="Open Sans" pitchFamily="34" charset="-122"/>
                <a:cs typeface="Open Sans" pitchFamily="34" charset="-120"/>
              </a:rPr>
              <a:t>Infrastructure &amp; Environment Overview</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04  </a:t>
            </a:r>
            <a:r>
              <a:rPr lang="en-US" sz="1600" dirty="0">
                <a:solidFill>
                  <a:srgbClr val="1B2755"/>
                </a:solidFill>
                <a:latin typeface="Open Sans" pitchFamily="34" charset="0"/>
                <a:ea typeface="Open Sans" pitchFamily="34" charset="-122"/>
                <a:cs typeface="Open Sans" pitchFamily="34" charset="-120"/>
              </a:rPr>
              <a:t>Security, Compliance &amp; Risk Posture</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05  </a:t>
            </a:r>
            <a:r>
              <a:rPr lang="en-US" sz="1600" dirty="0">
                <a:solidFill>
                  <a:srgbClr val="1B2755"/>
                </a:solidFill>
                <a:latin typeface="Open Sans" pitchFamily="34" charset="0"/>
                <a:ea typeface="Open Sans" pitchFamily="34" charset="-122"/>
                <a:cs typeface="Open Sans" pitchFamily="34" charset="-120"/>
              </a:rPr>
              <a:t>Project Portfolio Status</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06  </a:t>
            </a:r>
            <a:r>
              <a:rPr lang="en-US" sz="1600" dirty="0">
                <a:solidFill>
                  <a:srgbClr val="1B2755"/>
                </a:solidFill>
                <a:latin typeface="Open Sans" pitchFamily="34" charset="0"/>
                <a:ea typeface="Open Sans" pitchFamily="34" charset="-122"/>
                <a:cs typeface="Open Sans" pitchFamily="34" charset="-120"/>
              </a:rPr>
              <a:t>Strategic IT Roadmap (12–24 Month)</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07  </a:t>
            </a:r>
            <a:r>
              <a:rPr lang="en-US" sz="1600" dirty="0">
                <a:solidFill>
                  <a:srgbClr val="1B2755"/>
                </a:solidFill>
                <a:latin typeface="Open Sans" pitchFamily="34" charset="0"/>
                <a:ea typeface="Open Sans" pitchFamily="34" charset="-122"/>
                <a:cs typeface="Open Sans" pitchFamily="34" charset="-120"/>
              </a:rPr>
              <a:t>Technology Lifecycle &amp; Refresh Planning</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08  </a:t>
            </a:r>
            <a:r>
              <a:rPr lang="en-US" sz="1600" dirty="0">
                <a:solidFill>
                  <a:srgbClr val="1B2755"/>
                </a:solidFill>
                <a:latin typeface="Open Sans" pitchFamily="34" charset="0"/>
                <a:ea typeface="Open Sans" pitchFamily="34" charset="-122"/>
                <a:cs typeface="Open Sans" pitchFamily="34" charset="-120"/>
              </a:rPr>
              <a:t>Vendor Management &amp; Licensing Optimization</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09  </a:t>
            </a:r>
            <a:r>
              <a:rPr lang="en-US" sz="1600" dirty="0">
                <a:solidFill>
                  <a:srgbClr val="1B2755"/>
                </a:solidFill>
                <a:latin typeface="Open Sans" pitchFamily="34" charset="0"/>
                <a:ea typeface="Open Sans" pitchFamily="34" charset="-122"/>
                <a:cs typeface="Open Sans" pitchFamily="34" charset="-120"/>
              </a:rPr>
              <a:t>Budget &amp; Financial Summary</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10  </a:t>
            </a:r>
            <a:r>
              <a:rPr lang="en-US" sz="1600" dirty="0">
                <a:solidFill>
                  <a:srgbClr val="1B2755"/>
                </a:solidFill>
                <a:latin typeface="Open Sans" pitchFamily="34" charset="0"/>
                <a:ea typeface="Open Sans" pitchFamily="34" charset="-122"/>
                <a:cs typeface="Open Sans" pitchFamily="34" charset="-120"/>
              </a:rPr>
              <a:t>Risk Register &amp; Mitigation</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11  </a:t>
            </a:r>
            <a:r>
              <a:rPr lang="en-US" sz="1600" dirty="0">
                <a:solidFill>
                  <a:srgbClr val="1B2755"/>
                </a:solidFill>
                <a:latin typeface="Open Sans" pitchFamily="34" charset="0"/>
                <a:ea typeface="Open Sans" pitchFamily="34" charset="-122"/>
                <a:cs typeface="Open Sans" pitchFamily="34" charset="-120"/>
              </a:rPr>
              <a:t>Benchmarking &amp; Industry Comparison</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12  </a:t>
            </a:r>
            <a:r>
              <a:rPr lang="en-US" sz="1600" dirty="0">
                <a:solidFill>
                  <a:srgbClr val="1B2755"/>
                </a:solidFill>
                <a:latin typeface="Open Sans" pitchFamily="34" charset="0"/>
                <a:ea typeface="Open Sans" pitchFamily="34" charset="-122"/>
                <a:cs typeface="Open Sans" pitchFamily="34" charset="-120"/>
              </a:rPr>
              <a:t>Strategic Recommendations</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13  </a:t>
            </a:r>
            <a:r>
              <a:rPr lang="en-US" sz="1600" dirty="0">
                <a:solidFill>
                  <a:srgbClr val="1B2755"/>
                </a:solidFill>
                <a:latin typeface="Open Sans" pitchFamily="34" charset="0"/>
                <a:ea typeface="Open Sans" pitchFamily="34" charset="-122"/>
                <a:cs typeface="Open Sans" pitchFamily="34" charset="-120"/>
              </a:rPr>
              <a:t>Action Items &amp; Accountability Matrix</a:t>
            </a:r>
            <a:endParaRPr lang="en-US" sz="1600" dirty="0"/>
          </a:p>
        </p:txBody>
      </p:sp>
      <p:sp>
        <p:nvSpPr>
          <p:cNvPr id="26" name="Rectangle 25"/>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30" name="TextBox 29"/>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31" name="TextBox 30"/>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96D93927-301D-4FC1-A36A-CB572E88C5CC}" type="slidenum">
              <a:rPr lang="en-US" sz="700" dirty="0">
                <a:solidFill>
                  <a:srgbClr val="5A6485"/>
                </a:solidFill>
                <a:latin typeface="Open Sans"/>
              </a:rPr>
              <a:t>‹#›</a:t>
            </a:fld>
          </a:p>
        </p:txBody>
      </p:sp>
      <p:pic>
        <p:nvPicPr>
          <p:cNvPr id="32" name="Picture 31"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3CEEB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8E0EB9">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EXECUTIVE SUMMARY</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135CFD"/>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Total Endpoints</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NinjaRMM &gt; Organizations</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3CEEB6"/>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SLA Compliance</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ConnectWise &gt; SLA Reports</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8E0EB9"/>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Tickets Resolved</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ConnectWise &gt; Service Board</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3CEEB6"/>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Security Score</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Security Center</a:t>
            </a:r>
            <a:endParaRPr lang="en-US" sz="900" dirty="0"/>
          </a:p>
        </p:txBody>
      </p:sp>
      <p:sp>
        <p:nvSpPr>
          <p:cNvPr id="44" name="Rectangle 4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2CEE502D-ABC1-4139-AD19-8004FFF12A55}" type="slidenum">
              <a:rPr lang="en-US" sz="700" dirty="0">
                <a:solidFill>
                  <a:srgbClr val="5A6485"/>
                </a:solidFill>
                <a:latin typeface="Open Sans"/>
              </a:rPr>
              <a:t>‹#›</a:t>
            </a:fld>
          </a:p>
        </p:txBody>
      </p:sp>
      <p:pic>
        <p:nvPicPr>
          <p:cNvPr id="50" name="Picture 4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8686800" y="100000"/>
            <a:ext cx="320040" cy="320040"/>
          </a:xfrm>
          <a:prstGeom prst="rect">
            <a:avLst/>
          </a:prstGeom>
        </p:spPr>
      </p:pic>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135CFD"/>
                </a:solidFill>
                <a:latin typeface="Open Sans"/>
              </a:defRPr>
            </a:pPr>
            <a:r>
              <a:t>YOUR IT JOURNEY</a:t>
            </a:r>
          </a:p>
        </p:txBody>
      </p:sp>
      <p:sp>
        <p:nvSpPr>
          <p:cNvPr id="4" name="Rectangle 3"/>
          <p:cNvSpPr/>
          <p:nvPr/>
        </p:nvSpPr>
        <p:spPr>
          <a:xfrm>
            <a:off x="731520" y="680000"/>
            <a:ext cx="109728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t>Where you started  →  Where you are  →  Where you’re going</a:t>
            </a:r>
          </a:p>
        </p:txBody>
      </p:sp>
      <p:sp>
        <p:nvSpPr>
          <p:cNvPr id="6" name="Rounded Rectangle 5"/>
          <p:cNvSpPr/>
          <p:nvPr/>
        </p:nvSpPr>
        <p:spPr>
          <a:xfrm>
            <a:off x="1950000" y="1080000"/>
            <a:ext cx="2200000" cy="320000"/>
          </a:xfrm>
          <a:prstGeom prst="round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50000" y="1090000"/>
            <a:ext cx="2200000" cy="180000"/>
          </a:xfrm>
          <a:prstGeom prst="rect">
            <a:avLst/>
          </a:prstGeom>
          <a:noFill/>
        </p:spPr>
        <p:txBody>
          <a:bodyPr wrap="square">
            <a:spAutoFit/>
          </a:bodyPr>
          <a:lstStyle/>
          <a:p>
            <a:pPr algn="ctr">
              <a:defRPr sz="1000" b="1">
                <a:solidFill>
                  <a:srgbClr val="FFFFFF"/>
                </a:solidFill>
                <a:latin typeface="Open Sans"/>
              </a:defRPr>
            </a:pPr>
            <a:r>
              <a:t>BASELINE</a:t>
            </a:r>
          </a:p>
        </p:txBody>
      </p:sp>
      <p:sp>
        <p:nvSpPr>
          <p:cNvPr id="8" name="TextBox 7"/>
          <p:cNvSpPr txBox="1"/>
          <p:nvPr/>
        </p:nvSpPr>
        <p:spPr>
          <a:xfrm>
            <a:off x="1950000" y="1250000"/>
            <a:ext cx="2200000" cy="140000"/>
          </a:xfrm>
          <a:prstGeom prst="rect">
            <a:avLst/>
          </a:prstGeom>
          <a:noFill/>
        </p:spPr>
        <p:txBody>
          <a:bodyPr wrap="square">
            <a:spAutoFit/>
          </a:bodyPr>
          <a:lstStyle/>
          <a:p>
            <a:pPr algn="ctr">
              <a:defRPr sz="700" b="0">
                <a:solidFill>
                  <a:srgbClr val="CCCCDD"/>
                </a:solidFill>
                <a:latin typeface="Open Sans"/>
              </a:defRPr>
            </a:pPr>
            <a:r>
              <a:t>(Onboarding)</a:t>
            </a:r>
          </a:p>
        </p:txBody>
      </p:sp>
      <p:sp>
        <p:nvSpPr>
          <p:cNvPr id="9" name="Rounded Rectangle 8"/>
          <p:cNvSpPr/>
          <p:nvPr/>
        </p:nvSpPr>
        <p:spPr>
          <a:xfrm>
            <a:off x="4330000" y="1080000"/>
            <a:ext cx="2200000" cy="320000"/>
          </a:xfrm>
          <a:prstGeom prst="roundRect">
            <a:avLst/>
          </a:prstGeom>
          <a:solidFill>
            <a:srgbClr val="666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30000" y="1090000"/>
            <a:ext cx="2200000" cy="180000"/>
          </a:xfrm>
          <a:prstGeom prst="rect">
            <a:avLst/>
          </a:prstGeom>
          <a:noFill/>
        </p:spPr>
        <p:txBody>
          <a:bodyPr wrap="square">
            <a:spAutoFit/>
          </a:bodyPr>
          <a:lstStyle/>
          <a:p>
            <a:pPr algn="ctr">
              <a:defRPr sz="1000" b="1">
                <a:solidFill>
                  <a:srgbClr val="FFFFFF"/>
                </a:solidFill>
                <a:latin typeface="Open Sans"/>
              </a:defRPr>
            </a:pPr>
            <a:r>
              <a:t>LAST QUARTER</a:t>
            </a:r>
          </a:p>
        </p:txBody>
      </p:sp>
      <p:sp>
        <p:nvSpPr>
          <p:cNvPr id="11" name="TextBox 10"/>
          <p:cNvSpPr txBox="1"/>
          <p:nvPr/>
        </p:nvSpPr>
        <p:spPr>
          <a:xfrm>
            <a:off x="4330000" y="1250000"/>
            <a:ext cx="2200000" cy="140000"/>
          </a:xfrm>
          <a:prstGeom prst="rect">
            <a:avLst/>
          </a:prstGeom>
          <a:noFill/>
        </p:spPr>
        <p:txBody>
          <a:bodyPr wrap="square">
            <a:spAutoFit/>
          </a:bodyPr>
          <a:lstStyle/>
          <a:p>
            <a:pPr algn="ctr">
              <a:defRPr sz="700" b="0">
                <a:solidFill>
                  <a:srgbClr val="CCCCDD"/>
                </a:solidFill>
                <a:latin typeface="Open Sans"/>
              </a:defRPr>
            </a:pPr>
            <a:r>
              <a:t>(Prior QBR)</a:t>
            </a:r>
          </a:p>
        </p:txBody>
      </p:sp>
      <p:sp>
        <p:nvSpPr>
          <p:cNvPr id="12" name="Rounded Rectangle 11"/>
          <p:cNvSpPr/>
          <p:nvPr/>
        </p:nvSpPr>
        <p:spPr>
          <a:xfrm>
            <a:off x="6710000" y="1080000"/>
            <a:ext cx="2200000" cy="320000"/>
          </a:xfrm>
          <a:prstGeom prst="round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10000" y="1090000"/>
            <a:ext cx="2200000" cy="180000"/>
          </a:xfrm>
          <a:prstGeom prst="rect">
            <a:avLst/>
          </a:prstGeom>
          <a:noFill/>
        </p:spPr>
        <p:txBody>
          <a:bodyPr wrap="square">
            <a:spAutoFit/>
          </a:bodyPr>
          <a:lstStyle/>
          <a:p>
            <a:pPr algn="ctr">
              <a:defRPr sz="1000" b="1">
                <a:solidFill>
                  <a:srgbClr val="FFFFFF"/>
                </a:solidFill>
                <a:latin typeface="Open Sans"/>
              </a:defRPr>
            </a:pPr>
            <a:r>
              <a:t>THIS QUARTER</a:t>
            </a:r>
          </a:p>
        </p:txBody>
      </p:sp>
      <p:sp>
        <p:nvSpPr>
          <p:cNvPr id="14" name="TextBox 13"/>
          <p:cNvSpPr txBox="1"/>
          <p:nvPr/>
        </p:nvSpPr>
        <p:spPr>
          <a:xfrm>
            <a:off x="6710000" y="1250000"/>
            <a:ext cx="2200000" cy="140000"/>
          </a:xfrm>
          <a:prstGeom prst="rect">
            <a:avLst/>
          </a:prstGeom>
          <a:noFill/>
        </p:spPr>
        <p:txBody>
          <a:bodyPr wrap="square">
            <a:spAutoFit/>
          </a:bodyPr>
          <a:lstStyle/>
          <a:p>
            <a:pPr algn="ctr">
              <a:defRPr sz="700" b="0">
                <a:solidFill>
                  <a:srgbClr val="CCCCDD"/>
                </a:solidFill>
                <a:latin typeface="Open Sans"/>
              </a:defRPr>
            </a:pPr>
            <a:r>
              <a:t>(Current)</a:t>
            </a:r>
          </a:p>
        </p:txBody>
      </p:sp>
      <p:sp>
        <p:nvSpPr>
          <p:cNvPr id="15" name="Rectangle 14"/>
          <p:cNvSpPr/>
          <p:nvPr/>
        </p:nvSpPr>
        <p:spPr>
          <a:xfrm>
            <a:off x="250000" y="150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000" y="1530000"/>
            <a:ext cx="1500000" cy="170000"/>
          </a:xfrm>
          <a:prstGeom prst="rect">
            <a:avLst/>
          </a:prstGeom>
          <a:noFill/>
        </p:spPr>
        <p:txBody>
          <a:bodyPr wrap="square">
            <a:spAutoFit/>
          </a:bodyPr>
          <a:lstStyle/>
          <a:p>
            <a:pPr algn="l">
              <a:defRPr sz="900" b="1">
                <a:solidFill>
                  <a:srgbClr val="333333"/>
                </a:solidFill>
                <a:latin typeface="Open Sans"/>
              </a:defRPr>
            </a:pPr>
            <a:r>
              <a:t>Secure Score</a:t>
            </a:r>
          </a:p>
        </p:txBody>
      </p:sp>
      <p:sp>
        <p:nvSpPr>
          <p:cNvPr id="17" name="TextBox 16"/>
          <p:cNvSpPr txBox="1"/>
          <p:nvPr/>
        </p:nvSpPr>
        <p:spPr>
          <a:xfrm>
            <a:off x="350000" y="1680000"/>
            <a:ext cx="1500000" cy="130000"/>
          </a:xfrm>
          <a:prstGeom prst="rect">
            <a:avLst/>
          </a:prstGeom>
          <a:noFill/>
        </p:spPr>
        <p:txBody>
          <a:bodyPr wrap="square">
            <a:spAutoFit/>
          </a:bodyPr>
          <a:lstStyle/>
          <a:p>
            <a:pPr algn="l">
              <a:defRPr sz="650" b="0">
                <a:solidFill>
                  <a:srgbClr val="666677"/>
                </a:solidFill>
                <a:latin typeface="Open Sans"/>
              </a:defRPr>
            </a:pPr>
            <a:r>
              <a:t>M365 Security Center</a:t>
            </a:r>
          </a:p>
        </p:txBody>
      </p:sp>
      <p:sp>
        <p:nvSpPr>
          <p:cNvPr id="18" name="TextBox 17"/>
          <p:cNvSpPr txBox="1"/>
          <p:nvPr/>
        </p:nvSpPr>
        <p:spPr>
          <a:xfrm>
            <a:off x="1950000" y="156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19" name="TextBox 18"/>
          <p:cNvSpPr txBox="1"/>
          <p:nvPr/>
        </p:nvSpPr>
        <p:spPr>
          <a:xfrm>
            <a:off x="4330000" y="156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20" name="TextBox 19"/>
          <p:cNvSpPr txBox="1"/>
          <p:nvPr/>
        </p:nvSpPr>
        <p:spPr>
          <a:xfrm>
            <a:off x="6710000" y="156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21" name="TextBox 20"/>
          <p:cNvSpPr txBox="1"/>
          <p:nvPr/>
        </p:nvSpPr>
        <p:spPr>
          <a:xfrm>
            <a:off x="350000" y="1850000"/>
            <a:ext cx="1500000" cy="170000"/>
          </a:xfrm>
          <a:prstGeom prst="rect">
            <a:avLst/>
          </a:prstGeom>
          <a:noFill/>
        </p:spPr>
        <p:txBody>
          <a:bodyPr wrap="square">
            <a:spAutoFit/>
          </a:bodyPr>
          <a:lstStyle/>
          <a:p>
            <a:pPr algn="l">
              <a:defRPr sz="900" b="1">
                <a:solidFill>
                  <a:srgbClr val="333333"/>
                </a:solidFill>
                <a:latin typeface="Open Sans"/>
              </a:defRPr>
            </a:pPr>
            <a:r>
              <a:t>Duo MFA Enrollment</a:t>
            </a:r>
          </a:p>
        </p:txBody>
      </p:sp>
      <p:sp>
        <p:nvSpPr>
          <p:cNvPr id="22" name="TextBox 21"/>
          <p:cNvSpPr txBox="1"/>
          <p:nvPr/>
        </p:nvSpPr>
        <p:spPr>
          <a:xfrm>
            <a:off x="350000" y="2000000"/>
            <a:ext cx="1500000" cy="130000"/>
          </a:xfrm>
          <a:prstGeom prst="rect">
            <a:avLst/>
          </a:prstGeom>
          <a:noFill/>
        </p:spPr>
        <p:txBody>
          <a:bodyPr wrap="square">
            <a:spAutoFit/>
          </a:bodyPr>
          <a:lstStyle/>
          <a:p>
            <a:pPr algn="l">
              <a:defRPr sz="650" b="0">
                <a:solidFill>
                  <a:srgbClr val="666677"/>
                </a:solidFill>
                <a:latin typeface="Open Sans"/>
              </a:defRPr>
            </a:pPr>
            <a:r>
              <a:t>Cisco Duo Admin &gt; Users</a:t>
            </a:r>
          </a:p>
        </p:txBody>
      </p:sp>
      <p:sp>
        <p:nvSpPr>
          <p:cNvPr id="23" name="TextBox 22"/>
          <p:cNvSpPr txBox="1"/>
          <p:nvPr/>
        </p:nvSpPr>
        <p:spPr>
          <a:xfrm>
            <a:off x="1950000" y="188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24" name="TextBox 23"/>
          <p:cNvSpPr txBox="1"/>
          <p:nvPr/>
        </p:nvSpPr>
        <p:spPr>
          <a:xfrm>
            <a:off x="4330000" y="188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25" name="TextBox 24"/>
          <p:cNvSpPr txBox="1"/>
          <p:nvPr/>
        </p:nvSpPr>
        <p:spPr>
          <a:xfrm>
            <a:off x="6710000" y="188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26" name="Rectangle 25"/>
          <p:cNvSpPr/>
          <p:nvPr/>
        </p:nvSpPr>
        <p:spPr>
          <a:xfrm>
            <a:off x="250000" y="214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0000" y="2170000"/>
            <a:ext cx="1500000" cy="170000"/>
          </a:xfrm>
          <a:prstGeom prst="rect">
            <a:avLst/>
          </a:prstGeom>
          <a:noFill/>
        </p:spPr>
        <p:txBody>
          <a:bodyPr wrap="square">
            <a:spAutoFit/>
          </a:bodyPr>
          <a:lstStyle/>
          <a:p>
            <a:pPr algn="l">
              <a:defRPr sz="900" b="1">
                <a:solidFill>
                  <a:srgbClr val="333333"/>
                </a:solidFill>
                <a:latin typeface="Open Sans"/>
              </a:defRPr>
            </a:pPr>
            <a:r>
              <a:t>EDR Coverage</a:t>
            </a:r>
          </a:p>
        </p:txBody>
      </p:sp>
      <p:sp>
        <p:nvSpPr>
          <p:cNvPr id="28" name="TextBox 27"/>
          <p:cNvSpPr txBox="1"/>
          <p:nvPr/>
        </p:nvSpPr>
        <p:spPr>
          <a:xfrm>
            <a:off x="350000" y="2320000"/>
            <a:ext cx="1500000" cy="130000"/>
          </a:xfrm>
          <a:prstGeom prst="rect">
            <a:avLst/>
          </a:prstGeom>
          <a:noFill/>
        </p:spPr>
        <p:txBody>
          <a:bodyPr wrap="square">
            <a:spAutoFit/>
          </a:bodyPr>
          <a:lstStyle/>
          <a:p>
            <a:pPr algn="l">
              <a:defRPr sz="650" b="0">
                <a:solidFill>
                  <a:srgbClr val="666677"/>
                </a:solidFill>
                <a:latin typeface="Open Sans"/>
              </a:defRPr>
            </a:pPr>
            <a:r>
              <a:t>SentinelOne Console</a:t>
            </a:r>
          </a:p>
        </p:txBody>
      </p:sp>
      <p:sp>
        <p:nvSpPr>
          <p:cNvPr id="29" name="TextBox 28"/>
          <p:cNvSpPr txBox="1"/>
          <p:nvPr/>
        </p:nvSpPr>
        <p:spPr>
          <a:xfrm>
            <a:off x="1950000" y="220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30" name="TextBox 29"/>
          <p:cNvSpPr txBox="1"/>
          <p:nvPr/>
        </p:nvSpPr>
        <p:spPr>
          <a:xfrm>
            <a:off x="4330000" y="220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31" name="TextBox 30"/>
          <p:cNvSpPr txBox="1"/>
          <p:nvPr/>
        </p:nvSpPr>
        <p:spPr>
          <a:xfrm>
            <a:off x="6710000" y="220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32" name="TextBox 31"/>
          <p:cNvSpPr txBox="1"/>
          <p:nvPr/>
        </p:nvSpPr>
        <p:spPr>
          <a:xfrm>
            <a:off x="350000" y="2490000"/>
            <a:ext cx="1500000" cy="170000"/>
          </a:xfrm>
          <a:prstGeom prst="rect">
            <a:avLst/>
          </a:prstGeom>
          <a:noFill/>
        </p:spPr>
        <p:txBody>
          <a:bodyPr wrap="square">
            <a:spAutoFit/>
          </a:bodyPr>
          <a:lstStyle/>
          <a:p>
            <a:pPr algn="l">
              <a:defRPr sz="900" b="1">
                <a:solidFill>
                  <a:srgbClr val="333333"/>
                </a:solidFill>
                <a:latin typeface="Open Sans"/>
              </a:defRPr>
            </a:pPr>
            <a:r>
              <a:t>Patch Compliance</a:t>
            </a:r>
          </a:p>
        </p:txBody>
      </p:sp>
      <p:sp>
        <p:nvSpPr>
          <p:cNvPr id="33" name="TextBox 32"/>
          <p:cNvSpPr txBox="1"/>
          <p:nvPr/>
        </p:nvSpPr>
        <p:spPr>
          <a:xfrm>
            <a:off x="350000" y="2640000"/>
            <a:ext cx="1500000" cy="130000"/>
          </a:xfrm>
          <a:prstGeom prst="rect">
            <a:avLst/>
          </a:prstGeom>
          <a:noFill/>
        </p:spPr>
        <p:txBody>
          <a:bodyPr wrap="square">
            <a:spAutoFit/>
          </a:bodyPr>
          <a:lstStyle/>
          <a:p>
            <a:pPr algn="l">
              <a:defRPr sz="650" b="0">
                <a:solidFill>
                  <a:srgbClr val="666677"/>
                </a:solidFill>
                <a:latin typeface="Open Sans"/>
              </a:defRPr>
            </a:pPr>
            <a:r>
              <a:t>NinjaRMM &gt; Patching</a:t>
            </a:r>
          </a:p>
        </p:txBody>
      </p:sp>
      <p:sp>
        <p:nvSpPr>
          <p:cNvPr id="34" name="TextBox 33"/>
          <p:cNvSpPr txBox="1"/>
          <p:nvPr/>
        </p:nvSpPr>
        <p:spPr>
          <a:xfrm>
            <a:off x="1950000" y="252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35" name="TextBox 34"/>
          <p:cNvSpPr txBox="1"/>
          <p:nvPr/>
        </p:nvSpPr>
        <p:spPr>
          <a:xfrm>
            <a:off x="4330000" y="252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36" name="TextBox 35"/>
          <p:cNvSpPr txBox="1"/>
          <p:nvPr/>
        </p:nvSpPr>
        <p:spPr>
          <a:xfrm>
            <a:off x="6710000" y="252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37" name="Rectangle 36"/>
          <p:cNvSpPr/>
          <p:nvPr/>
        </p:nvSpPr>
        <p:spPr>
          <a:xfrm>
            <a:off x="250000" y="278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50000" y="2810000"/>
            <a:ext cx="1500000" cy="170000"/>
          </a:xfrm>
          <a:prstGeom prst="rect">
            <a:avLst/>
          </a:prstGeom>
          <a:noFill/>
        </p:spPr>
        <p:txBody>
          <a:bodyPr wrap="square">
            <a:spAutoFit/>
          </a:bodyPr>
          <a:lstStyle/>
          <a:p>
            <a:pPr algn="l">
              <a:defRPr sz="900" b="1">
                <a:solidFill>
                  <a:srgbClr val="333333"/>
                </a:solidFill>
                <a:latin typeface="Open Sans"/>
              </a:defRPr>
            </a:pPr>
            <a:r>
              <a:t>Avg Tickets/Month</a:t>
            </a:r>
          </a:p>
        </p:txBody>
      </p:sp>
      <p:sp>
        <p:nvSpPr>
          <p:cNvPr id="39" name="TextBox 38"/>
          <p:cNvSpPr txBox="1"/>
          <p:nvPr/>
        </p:nvSpPr>
        <p:spPr>
          <a:xfrm>
            <a:off x="350000" y="2960000"/>
            <a:ext cx="1500000" cy="130000"/>
          </a:xfrm>
          <a:prstGeom prst="rect">
            <a:avLst/>
          </a:prstGeom>
          <a:noFill/>
        </p:spPr>
        <p:txBody>
          <a:bodyPr wrap="square">
            <a:spAutoFit/>
          </a:bodyPr>
          <a:lstStyle/>
          <a:p>
            <a:pPr algn="l">
              <a:defRPr sz="650" b="0">
                <a:solidFill>
                  <a:srgbClr val="666677"/>
                </a:solidFill>
                <a:latin typeface="Open Sans"/>
              </a:defRPr>
            </a:pPr>
            <a:r>
              <a:t>ConnectWise &gt; Reports</a:t>
            </a:r>
          </a:p>
        </p:txBody>
      </p:sp>
      <p:sp>
        <p:nvSpPr>
          <p:cNvPr id="40" name="TextBox 39"/>
          <p:cNvSpPr txBox="1"/>
          <p:nvPr/>
        </p:nvSpPr>
        <p:spPr>
          <a:xfrm>
            <a:off x="1950000" y="284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41" name="TextBox 40"/>
          <p:cNvSpPr txBox="1"/>
          <p:nvPr/>
        </p:nvSpPr>
        <p:spPr>
          <a:xfrm>
            <a:off x="4330000" y="284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42" name="TextBox 41"/>
          <p:cNvSpPr txBox="1"/>
          <p:nvPr/>
        </p:nvSpPr>
        <p:spPr>
          <a:xfrm>
            <a:off x="6710000" y="284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43" name="TextBox 42"/>
          <p:cNvSpPr txBox="1"/>
          <p:nvPr/>
        </p:nvSpPr>
        <p:spPr>
          <a:xfrm>
            <a:off x="350000" y="3130000"/>
            <a:ext cx="1500000" cy="170000"/>
          </a:xfrm>
          <a:prstGeom prst="rect">
            <a:avLst/>
          </a:prstGeom>
          <a:noFill/>
        </p:spPr>
        <p:txBody>
          <a:bodyPr wrap="square">
            <a:spAutoFit/>
          </a:bodyPr>
          <a:lstStyle/>
          <a:p>
            <a:pPr algn="l">
              <a:defRPr sz="900" b="1">
                <a:solidFill>
                  <a:srgbClr val="333333"/>
                </a:solidFill>
                <a:latin typeface="Open Sans"/>
              </a:defRPr>
            </a:pPr>
            <a:r>
              <a:t>SLA Compliance</a:t>
            </a:r>
          </a:p>
        </p:txBody>
      </p:sp>
      <p:sp>
        <p:nvSpPr>
          <p:cNvPr id="44" name="TextBox 43"/>
          <p:cNvSpPr txBox="1"/>
          <p:nvPr/>
        </p:nvSpPr>
        <p:spPr>
          <a:xfrm>
            <a:off x="350000" y="3280000"/>
            <a:ext cx="1500000" cy="130000"/>
          </a:xfrm>
          <a:prstGeom prst="rect">
            <a:avLst/>
          </a:prstGeom>
          <a:noFill/>
        </p:spPr>
        <p:txBody>
          <a:bodyPr wrap="square">
            <a:spAutoFit/>
          </a:bodyPr>
          <a:lstStyle/>
          <a:p>
            <a:pPr algn="l">
              <a:defRPr sz="650" b="0">
                <a:solidFill>
                  <a:srgbClr val="666677"/>
                </a:solidFill>
                <a:latin typeface="Open Sans"/>
              </a:defRPr>
            </a:pPr>
            <a:r>
              <a:t>ConnectWise &gt; SLA</a:t>
            </a:r>
          </a:p>
        </p:txBody>
      </p:sp>
      <p:sp>
        <p:nvSpPr>
          <p:cNvPr id="45" name="TextBox 44"/>
          <p:cNvSpPr txBox="1"/>
          <p:nvPr/>
        </p:nvSpPr>
        <p:spPr>
          <a:xfrm>
            <a:off x="1950000" y="316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46" name="TextBox 45"/>
          <p:cNvSpPr txBox="1"/>
          <p:nvPr/>
        </p:nvSpPr>
        <p:spPr>
          <a:xfrm>
            <a:off x="4330000" y="316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47" name="TextBox 46"/>
          <p:cNvSpPr txBox="1"/>
          <p:nvPr/>
        </p:nvSpPr>
        <p:spPr>
          <a:xfrm>
            <a:off x="6710000" y="316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48" name="TextBox 47"/>
          <p:cNvSpPr txBox="1"/>
          <p:nvPr/>
        </p:nvSpPr>
        <p:spPr>
          <a:xfrm>
            <a:off x="8990000" y="1120000"/>
            <a:ext cx="500000" cy="200000"/>
          </a:xfrm>
          <a:prstGeom prst="rect">
            <a:avLst/>
          </a:prstGeom>
          <a:noFill/>
        </p:spPr>
        <p:txBody>
          <a:bodyPr wrap="square">
            <a:spAutoFit/>
          </a:bodyPr>
          <a:lstStyle/>
          <a:p>
            <a:pPr algn="ctr">
              <a:defRPr sz="800" b="1">
                <a:solidFill>
                  <a:srgbClr val="666677"/>
                </a:solidFill>
                <a:latin typeface="Open Sans"/>
              </a:defRPr>
            </a:pPr>
            <a:r>
              <a:t>TREND</a:t>
            </a:r>
          </a:p>
        </p:txBody>
      </p:sp>
      <p:sp>
        <p:nvSpPr>
          <p:cNvPr id="49" name="TextBox 48"/>
          <p:cNvSpPr txBox="1"/>
          <p:nvPr/>
        </p:nvSpPr>
        <p:spPr>
          <a:xfrm>
            <a:off x="8990000" y="156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0" name="TextBox 49"/>
          <p:cNvSpPr txBox="1"/>
          <p:nvPr/>
        </p:nvSpPr>
        <p:spPr>
          <a:xfrm>
            <a:off x="8990000" y="188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1" name="TextBox 50"/>
          <p:cNvSpPr txBox="1"/>
          <p:nvPr/>
        </p:nvSpPr>
        <p:spPr>
          <a:xfrm>
            <a:off x="8990000" y="220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2" name="TextBox 51"/>
          <p:cNvSpPr txBox="1"/>
          <p:nvPr/>
        </p:nvSpPr>
        <p:spPr>
          <a:xfrm>
            <a:off x="8990000" y="252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3" name="TextBox 52"/>
          <p:cNvSpPr txBox="1"/>
          <p:nvPr/>
        </p:nvSpPr>
        <p:spPr>
          <a:xfrm>
            <a:off x="8990000" y="284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4" name="TextBox 53"/>
          <p:cNvSpPr txBox="1"/>
          <p:nvPr/>
        </p:nvSpPr>
        <p:spPr>
          <a:xfrm>
            <a:off x="8990000" y="316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5" name="TextBox 54"/>
          <p:cNvSpPr txBox="1"/>
          <p:nvPr/>
        </p:nvSpPr>
        <p:spPr>
          <a:xfrm>
            <a:off x="731520" y="3500000"/>
            <a:ext cx="7500000" cy="700000"/>
          </a:xfrm>
          <a:prstGeom prst="rect">
            <a:avLst/>
          </a:prstGeom>
          <a:noFill/>
        </p:spPr>
        <p:txBody>
          <a:bodyPr wrap="square">
            <a:spAutoFit/>
          </a:bodyPr>
          <a:lstStyle/>
          <a:p>
            <a:pPr algn="l">
              <a:defRPr sz="750" b="0">
                <a:solidFill>
                  <a:srgbClr val="666677"/>
                </a:solidFill>
                <a:latin typeface="Open Sans"/>
              </a:defRPr>
            </a:pPr>
            <a:r>
              <a:t>PREP: Fill baseline from onboarding docs (these never change). Copy last quarter from prior QBR deck. Pull this quarter fresh from each tool. PRESENT: Tell the story — improving = proving value, flat = stable (still a win), declining = own it + show the fix.</a:t>
            </a:r>
          </a:p>
        </p:txBody>
      </p:sp>
      <p:sp>
        <p:nvSpPr>
          <p:cNvPr id="56" name="Rectangle 55"/>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65760" y="4883460"/>
            <a:ext cx="3200000" cy="200000"/>
          </a:xfrm>
          <a:prstGeom prst="rect">
            <a:avLst/>
          </a:prstGeom>
          <a:noFill/>
        </p:spPr>
        <p:txBody>
          <a:bodyPr wrap="square">
            <a:spAutoFit/>
          </a:bodyPr>
          <a:lstStyle/>
          <a:p>
            <a:pPr algn="l">
              <a:defRPr sz="700" b="0">
                <a:solidFill>
                  <a:srgbClr val="5A6485"/>
                </a:solidFill>
                <a:latin typeface="Open Sans"/>
              </a:defRPr>
            </a:pPr>
            <a:r>
              <a:t>© 2026 Dedicated IT. All rights reserved.</a:t>
            </a:r>
          </a:p>
        </p:txBody>
      </p:sp>
      <p:sp>
        <p:nvSpPr>
          <p:cNvPr id="60" name="TextBox 59"/>
          <p:cNvSpPr txBox="1"/>
          <p:nvPr/>
        </p:nvSpPr>
        <p:spPr>
          <a:xfrm>
            <a:off x="3200000" y="4883460"/>
            <a:ext cx="2800000" cy="200000"/>
          </a:xfrm>
          <a:prstGeom prst="rect">
            <a:avLst/>
          </a:prstGeom>
          <a:noFill/>
        </p:spPr>
        <p:txBody>
          <a:bodyPr wrap="square">
            <a:spAutoFit/>
          </a:bodyPr>
          <a:lstStyle/>
          <a:p>
            <a:pPr algn="ctr">
              <a:defRPr sz="650" b="1">
                <a:solidFill>
                  <a:srgbClr val="5A6485"/>
                </a:solidFill>
                <a:latin typeface="Open Sans"/>
              </a:defRPr>
            </a:pPr>
            <a:r>
              <a:t>CONFIDENTIAL &amp; PROPRIETARY</a:t>
            </a:r>
          </a:p>
        </p:txBody>
      </p:sp>
      <p:sp>
        <p:nvSpPr>
          <p:cNvPr id="61" name="TextBox 60"/>
          <p:cNvSpPr txBox="1"/>
          <p:nvPr/>
        </p:nvSpPr>
        <p:spPr>
          <a:xfrm>
            <a:off x="6800000" y="4883460"/>
            <a:ext cx="2000000" cy="200000"/>
          </a:xfrm>
          <a:prstGeom prst="rect">
            <a:avLst/>
          </a:prstGeom>
          <a:noFill/>
        </p:spPr>
        <p:txBody>
          <a:bodyPr wrap="square">
            <a:spAutoFit/>
          </a:bodyPr>
          <a:lstStyle/>
          <a:p>
            <a:pPr algn="r">
              <a:defRPr sz="700" b="0">
                <a:solidFill>
                  <a:srgbClr val="5A6485"/>
                </a:solidFill>
                <a:latin typeface="Open Sans"/>
              </a:defRPr>
            </a:pPr>
            <a:r>
              <a:rPr lang="en-US" sz="700" dirty="0">
                <a:solidFill>
                  <a:srgbClr val="5A6485"/>
                </a:solidFill>
                <a:latin typeface="Open Sans"/>
              </a:rPr>
              <a:t>dedicatedit.com  |  </a:t>
            </a:r>
            <a:fld id="{3E00F085-3167-4089-BF98-65B30F271770}" type="slidenum">
              <a:rPr lang="en-US" sz="700" dirty="0">
                <a:solidFill>
                  <a:srgbClr val="5A6485"/>
                </a:solidFill>
                <a:latin typeface="Open Sans"/>
              </a:rPr>
              <a:t>‹#›</a:t>
            </a:fld>
          </a:p>
        </p:txBody>
      </p:sp>
      <p:sp>
        <p:nvSpPr>
          <p:cNvPr id="62" name="Rectangle 61"/>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01</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Service Level</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Performance</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33FFD3B6-EFF7-43DE-92E0-A426080218E1}" type="slidenum">
              <a:rPr lang="en-US" sz="700" dirty="0">
                <a:solidFill>
                  <a:srgbClr val="5A6485"/>
                </a:solidFill>
                <a:latin typeface="Open Sans"/>
              </a:rPr>
              <a:t>‹#›</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SERVICE LEVEL AGREEMENT PERFORMANCE</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316992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SLA Metric</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Contractual Target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Q Actual</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YTD Actual</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Trend</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P1 — Critical Response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15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P1 — Critical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4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P2 — High Response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30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P2 — High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8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P3 — Standard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24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System Uptime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Patch Compliance (Critical)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48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7"/>
                  </a:ext>
                </a:extLst>
              </a:tr>
            </a:tbl>
          </a:graphicData>
        </a:graphic>
      </p:graphicFrame>
      <p:sp>
        <p:nvSpPr>
          <p:cNvPr id="44" name="Rectangle 4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A53A0718-7F6D-4D4F-906B-6A470D14FB8E}" type="slidenum">
              <a:rPr lang="en-US" sz="700" dirty="0">
                <a:solidFill>
                  <a:srgbClr val="5A6485"/>
                </a:solidFill>
                <a:latin typeface="Open Sans"/>
              </a:rPr>
              <a:t>‹#›</a:t>
            </a:fld>
          </a:p>
        </p:txBody>
      </p:sp>
      <p:pic>
        <p:nvPicPr>
          <p:cNvPr id="50" name="Picture 4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INCIDENT VOLUME &amp; TREND ANALYSIS</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B59FD4BA-85DD-4176-964F-2DE95E8A83D4}" type="slidenum">
              <a:rPr lang="en-US" sz="700" dirty="0">
                <a:solidFill>
                  <a:srgbClr val="5A6485"/>
                </a:solidFill>
                <a:latin typeface="Open Sans"/>
              </a:rPr>
              <a:t>‹#›</a:t>
            </a:fld>
          </a:p>
        </p:txBody>
      </p:sp>
      <p:pic>
        <p:nvPicPr>
          <p:cNvPr id="25" name="Picture 24" descr="DIT_Logo - Icon - Full Color.png"/>
          <p:cNvPicPr>
            <a:picLocks noChangeAspect="1"/>
          </p:cNvPicPr>
          <p:nvPr/>
        </p:nvPicPr>
        <p:blipFill>
          <a:blip r:embed="rId4"/>
          <a:stretch>
            <a:fillRect/>
          </a:stretch>
        </p:blipFill>
        <p:spPr>
          <a:xfrm>
            <a:off x="8686800" y="100000"/>
            <a:ext cx="320040" cy="320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TICKET DISTRIBUTION BY CATEGORY</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F5D44255-E5C2-4E4E-B4A4-F5EB04BB7724}" type="slidenum">
              <a:rPr lang="en-US" sz="700" dirty="0">
                <a:solidFill>
                  <a:srgbClr val="5A6485"/>
                </a:solidFill>
                <a:latin typeface="Open Sans"/>
              </a:rPr>
              <a:t>‹#›</a:t>
            </a:fld>
          </a:p>
        </p:txBody>
      </p:sp>
      <p:pic>
        <p:nvPicPr>
          <p:cNvPr id="25" name="Picture 24" descr="DIT_Logo - Icon - Full Color.png"/>
          <p:cNvPicPr>
            <a:picLocks noChangeAspect="1"/>
          </p:cNvPicPr>
          <p:nvPr/>
        </p:nvPicPr>
        <p:blipFill>
          <a:blip r:embed="rId4"/>
          <a:stretch>
            <a:fillRect/>
          </a:stretch>
        </p:blipFill>
        <p:spPr>
          <a:xfrm>
            <a:off x="8686800" y="100000"/>
            <a:ext cx="320040" cy="320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02</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Infrastructure &amp;</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Environment</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F9B0BFCF-AFA0-4492-97A6-0CBD2DA0954C}" type="slidenum">
              <a:rPr lang="en-US" sz="700" dirty="0">
                <a:solidFill>
                  <a:srgbClr val="5A6485"/>
                </a:solidFill>
                <a:latin typeface="Open Sans"/>
              </a:rPr>
              <a:t>‹#›</a:t>
            </a:fl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3CEEB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8E0EB9">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INFRASTRUCTURE OVERVIEW</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135CFD"/>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Servers (Physical/Virtual)</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NinjaRMM &gt; Organizations</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3CEEB6"/>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Workstations</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NinjaRMM &gt; Device Details</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8E0EB9"/>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Network Devices</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NinjaRMM &gt; SNMP Devices</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3CEEB6"/>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Cloud Adoption</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Admin + NinjaRMM</a:t>
            </a:r>
            <a:endParaRPr lang="en-US" sz="900" dirty="0"/>
          </a:p>
        </p:txBody>
      </p:sp>
      <p:sp>
        <p:nvSpPr>
          <p:cNvPr id="44" name="Rectangle 4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3F0AEB60-D437-4A1B-AF61-5D33D909FA77}" type="slidenum">
              <a:rPr lang="en-US" sz="700" dirty="0">
                <a:solidFill>
                  <a:srgbClr val="5A6485"/>
                </a:solidFill>
                <a:latin typeface="Open Sans"/>
              </a:rPr>
              <a:t>‹#›</a:t>
            </a:fld>
          </a:p>
        </p:txBody>
      </p:sp>
      <p:pic>
        <p:nvPicPr>
          <p:cNvPr id="50" name="Picture 4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ENVIRONMENT HEALTH SUMMARY</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System / Platform</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Uptime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Last Maintenance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Notes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Primary Domain Controller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Email (M365 / Exchange)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File Server / SharePoint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Storage at [X]%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Line-of-Business App [Name]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Warning</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Performance degradation noted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Backup Infrastructure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Last DR test: [Date]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Firewall / UTM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Firmware current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Wi-Fi Infrastructure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7"/>
                  </a:ext>
                </a:extLst>
              </a:tr>
            </a:tbl>
          </a:graphicData>
        </a:graphic>
      </p:graphicFrame>
      <p:sp>
        <p:nvSpPr>
          <p:cNvPr id="49" name="Rectangle 48"/>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53" name="TextBox 52"/>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54" name="TextBox 53"/>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603BFBA2-CCF4-4D46-B516-DB0223080E76}" type="slidenum">
              <a:rPr lang="en-US" sz="700" dirty="0">
                <a:solidFill>
                  <a:srgbClr val="5A6485"/>
                </a:solidFill>
                <a:latin typeface="Open Sans"/>
              </a:rPr>
              <a:t>‹#›</a:t>
            </a:fld>
          </a:p>
        </p:txBody>
      </p:sp>
      <p:pic>
        <p:nvPicPr>
          <p:cNvPr id="55" name="Picture 54"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03</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Security, Compliance</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&amp; Risk Posture</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C1CAB526-8E69-4B75-B53C-D9F1BA26BCC3}" type="slidenum">
              <a:rPr lang="en-US" sz="700" dirty="0">
                <a:solidFill>
                  <a:srgbClr val="5A6485"/>
                </a:solidFill>
                <a:latin typeface="Open Sans"/>
              </a:rPr>
              <a:t>‹#›</a:t>
            </a:fld>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3CEEB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8E0EB9">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SECURITY POSTURE DASHBOARD</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135CFD"/>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Microsoft Secure Score</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Security Center</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3CEEB6"/>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MFA Adoption</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Cisco Duo Admin &gt; Authentication Log</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8E0EB9"/>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Endpoint Compliance</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SentinelOne + NinjaRMM</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3CEEB6"/>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Security Incidents</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SentinelOne + Huntress ITDR</a:t>
            </a:r>
            <a:endParaRPr lang="en-US" sz="900" dirty="0"/>
          </a:p>
        </p:txBody>
      </p:sp>
      <p:sp>
        <p:nvSpPr>
          <p:cNvPr id="44" name="Rectangle 4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01CB403B-4455-4386-9761-6AD87E15CC65}" type="slidenum">
              <a:rPr lang="en-US" sz="700" dirty="0">
                <a:solidFill>
                  <a:srgbClr val="5A6485"/>
                </a:solidFill>
                <a:latin typeface="Open Sans"/>
              </a:rPr>
              <a:t>‹#›</a:t>
            </a:fld>
          </a:p>
        </p:txBody>
      </p:sp>
      <p:pic>
        <p:nvPicPr>
          <p:cNvPr id="50" name="Picture 4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COMPLIANCE &amp; FRAMEWORK ALIGNMENT</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Framework / Regulation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Scope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Current 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Gap Areas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Next Review</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HIPAA Security Rule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All PHI systems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compliant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NIST CSF 2.0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Full environment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aligned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CIS Controls v8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Endpoints &amp; network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[X]/18 implemented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Cyber Insurance Requirements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All systems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Compliant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SOC 2 Type II (if applicable)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[Scope]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[Status]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bl>
          </a:graphicData>
        </a:graphic>
      </p:graphicFrame>
      <p:sp>
        <p:nvSpPr>
          <p:cNvPr id="52" name="Rectangle 51"/>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56" name="TextBox 55"/>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57" name="TextBox 56"/>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B5D26C0A-CDF3-4448-815C-C6CC9DFCCCBF}" type="slidenum">
              <a:rPr lang="en-US" sz="700" dirty="0">
                <a:solidFill>
                  <a:srgbClr val="5A6485"/>
                </a:solidFill>
                <a:latin typeface="Open Sans"/>
              </a:rPr>
              <a:t>‹#›</a:t>
            </a:fld>
          </a:p>
        </p:txBody>
      </p:sp>
      <p:pic>
        <p:nvPicPr>
          <p:cNvPr id="58" name="Picture 57"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04</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Project Portfolio</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Status</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A55115BF-DA9F-4EC9-AB49-2BFA1C0C3692}" type="slidenum">
              <a:rPr lang="en-US" sz="700" dirty="0">
                <a:solidFill>
                  <a:srgbClr val="5A6485"/>
                </a:solidFill>
                <a:latin typeface="Open Sans"/>
              </a:rPr>
              <a:t>‹#›</a:t>
            </a:fld>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ACTIVE &amp; PLANNED PROJECTS</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225552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Project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Phase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 Complete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Budget 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Target Completion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Risk</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Execution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On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Planning</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On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Execution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Over 10%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Completed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Under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Proposed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TBD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TBD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bl>
          </a:graphicData>
        </a:graphic>
      </p:graphicFrame>
      <p:sp>
        <p:nvSpPr>
          <p:cNvPr id="54" name="Rectangle 5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58" name="TextBox 5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59" name="TextBox 5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96D99D55-B16F-4159-9884-63F4AE9B1588}" type="slidenum">
              <a:rPr lang="en-US" sz="700" dirty="0">
                <a:solidFill>
                  <a:srgbClr val="5A6485"/>
                </a:solidFill>
                <a:latin typeface="Open Sans"/>
              </a:rPr>
              <a:t>‹#›</a:t>
            </a:fld>
          </a:p>
        </p:txBody>
      </p:sp>
      <p:pic>
        <p:nvPicPr>
          <p:cNvPr id="60" name="Picture 5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05</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Strategic IT Roadmap</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12–24 Months</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1762A372-0644-4506-9E14-3A6007B3B83B}" type="slidenum">
              <a:rPr lang="en-US" sz="700" dirty="0">
                <a:solidFill>
                  <a:srgbClr val="5A6485"/>
                </a:solidFill>
                <a:latin typeface="Open Sans"/>
              </a:rPr>
              <a:t>‹#›</a:t>
            </a:fld>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19" name="Rectangle 18"/>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STRATEGIC IT ROADMAP</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Initiative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Business Driver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Priority</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Timeline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Est. Investment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ROI / Impact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Q[X]–Q[X]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Q[X]–Q[X]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6]</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56" name="Rectangle 55"/>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60" name="TextBox 59"/>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61" name="TextBox 60"/>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5A597988-69BF-48C0-9E14-A34BA4288DEC}" type="slidenum">
              <a:rPr lang="en-US" sz="700" dirty="0">
                <a:solidFill>
                  <a:srgbClr val="5A6485"/>
                </a:solidFill>
                <a:latin typeface="Open Sans"/>
              </a:rPr>
              <a:t>‹#›</a:t>
            </a:fld>
          </a:p>
        </p:txBody>
      </p:sp>
      <p:pic>
        <p:nvPicPr>
          <p:cNvPr id="62" name="Picture 61"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TECHNOLOGY LIFECYCLE &amp; REFRESH PLANNING</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Asset Category</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Total Count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Current (&lt; 3yr)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Aging (3–5yr)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EOL (&gt; 5yr)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Refresh Plan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Workstations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Servers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Network Equipment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Firewalls / UTM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UPS / Power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Printers / Peripherals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57" name="Rectangle 56"/>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61" name="TextBox 60"/>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62" name="TextBox 61"/>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FD951F05-E631-49C6-BF76-7998D687320D}" type="slidenum">
              <a:rPr lang="en-US" sz="700" dirty="0">
                <a:solidFill>
                  <a:srgbClr val="5A6485"/>
                </a:solidFill>
                <a:latin typeface="Open Sans"/>
              </a:rPr>
              <a:t>‹#›</a:t>
            </a:fld>
          </a:p>
        </p:txBody>
      </p:sp>
      <p:pic>
        <p:nvPicPr>
          <p:cNvPr id="63" name="Picture 62"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4572000" y="1100000"/>
            <a:ext cx="9144" cy="35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65000" y="11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65000" y="19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65000" y="27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65000" y="35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65000" y="43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0000" y="1100000"/>
            <a:ext cx="3750000" cy="3550000"/>
          </a:xfrm>
          <a:prstGeom prst="roundRect">
            <a:avLst/>
          </a:prstGeom>
          <a:solidFill>
            <a:srgbClr val="162048">
              <a:alpha val="2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00000" y="1100000"/>
            <a:ext cx="3750000" cy="3550000"/>
          </a:xfrm>
          <a:prstGeom prst="roundRect">
            <a:avLst/>
          </a:prstGeom>
          <a:solidFill>
            <a:srgbClr val="162048">
              <a:alpha val="2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44000" y="0"/>
            <a:ext cx="400000" cy="27432"/>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763500"/>
            <a:ext cx="2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VENDOR MANAGEMENT &amp; LICENSING</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3657600" cy="54864"/>
          </a:xfrm>
          <a:prstGeom prst="rect">
            <a:avLst/>
          </a:prstGeom>
          <a:solidFill>
            <a:srgbClr val="135CFD"/>
          </a:solidFill>
          <a:ln/>
        </p:spPr>
        <p:txBody>
          <a:bodyPr/>
          <a:lstStyle/>
          <a:p>
            <a:endParaRPr/>
          </a:p>
        </p:txBody>
      </p:sp>
      <p:sp>
        <p:nvSpPr>
          <p:cNvPr id="6" name="Text 4"/>
          <p:cNvSpPr/>
          <p:nvPr/>
        </p:nvSpPr>
        <p:spPr>
          <a:xfrm>
            <a:off x="1005840" y="1371600"/>
            <a:ext cx="3108960" cy="365760"/>
          </a:xfrm>
          <a:prstGeom prst="rect">
            <a:avLst/>
          </a:prstGeom>
          <a:noFill/>
          <a:ln/>
        </p:spPr>
        <p:txBody>
          <a:bodyPr wrap="square" lIns="0" tIns="0" rIns="0" bIns="0" rtlCol="0" anchor="ctr"/>
          <a:lstStyle/>
          <a:p>
            <a:pPr marL="0" indent="0">
              <a:buNone/>
            </a:pPr>
            <a:r>
              <a:rPr lang="en-US" sz="1400" b="1" dirty="0">
                <a:solidFill>
                  <a:srgbClr val="135CFD"/>
                </a:solidFill>
                <a:latin typeface="Open Sans" pitchFamily="34" charset="0"/>
                <a:ea typeface="Open Sans" pitchFamily="34" charset="-122"/>
                <a:cs typeface="Open Sans" pitchFamily="34" charset="-120"/>
              </a:rPr>
              <a:t>Key Vendor Contracts</a:t>
            </a:r>
            <a:endParaRPr lang="en-US" sz="1400" dirty="0"/>
          </a:p>
        </p:txBody>
      </p:sp>
      <p:sp>
        <p:nvSpPr>
          <p:cNvPr id="7" name="Text 5"/>
          <p:cNvSpPr/>
          <p:nvPr/>
        </p:nvSpPr>
        <p:spPr>
          <a:xfrm>
            <a:off x="100584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MtM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Total vendor spend: $___  (ConnectWise &gt; Finance)</a:t>
            </a:r>
            <a:endParaRPr lang="en-US" sz="1100" dirty="0"/>
          </a:p>
        </p:txBody>
      </p:sp>
      <p:sp>
        <p:nvSpPr>
          <p:cNvPr id="8" name="Shape 6"/>
          <p:cNvSpPr/>
          <p:nvPr/>
        </p:nvSpPr>
        <p:spPr>
          <a:xfrm>
            <a:off x="475488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9" name="Shape 7"/>
          <p:cNvSpPr/>
          <p:nvPr/>
        </p:nvSpPr>
        <p:spPr>
          <a:xfrm>
            <a:off x="4754880" y="1188720"/>
            <a:ext cx="3657600" cy="54864"/>
          </a:xfrm>
          <a:prstGeom prst="rect">
            <a:avLst/>
          </a:prstGeom>
          <a:solidFill>
            <a:srgbClr val="3CEEB6"/>
          </a:solidFill>
          <a:ln/>
        </p:spPr>
        <p:txBody>
          <a:bodyPr/>
          <a:lstStyle/>
          <a:p>
            <a:endParaRPr/>
          </a:p>
        </p:txBody>
      </p:sp>
      <p:sp>
        <p:nvSpPr>
          <p:cNvPr id="10" name="Text 8"/>
          <p:cNvSpPr/>
          <p:nvPr/>
        </p:nvSpPr>
        <p:spPr>
          <a:xfrm>
            <a:off x="5029200" y="1371600"/>
            <a:ext cx="3108960" cy="365760"/>
          </a:xfrm>
          <a:prstGeom prst="rect">
            <a:avLst/>
          </a:prstGeom>
          <a:noFill/>
          <a:ln/>
        </p:spPr>
        <p:txBody>
          <a:bodyPr wrap="square" lIns="0" tIns="0" rIns="0" bIns="0" rtlCol="0" anchor="ctr"/>
          <a:lstStyle/>
          <a:p>
            <a:pPr marL="0" indent="0">
              <a:buNone/>
            </a:pPr>
            <a:r>
              <a:rPr lang="en-US" sz="1400" b="1" dirty="0">
                <a:solidFill>
                  <a:srgbClr val="135CFD"/>
                </a:solidFill>
                <a:latin typeface="Open Sans" pitchFamily="34" charset="0"/>
                <a:ea typeface="Open Sans" pitchFamily="34" charset="-122"/>
                <a:cs typeface="Open Sans" pitchFamily="34" charset="-120"/>
              </a:rPr>
              <a:t>Optimization Opportunities</a:t>
            </a:r>
            <a:endParaRPr lang="en-US" sz="1400" dirty="0"/>
          </a:p>
        </p:txBody>
      </p:sp>
      <p:sp>
        <p:nvSpPr>
          <p:cNvPr id="11" name="Text 9"/>
          <p:cNvSpPr/>
          <p:nvPr/>
        </p:nvSpPr>
        <p:spPr>
          <a:xfrm>
            <a:off x="502920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M365 right-sizing: ___ unused → $___/yr  (M365 Admin)</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SW consolidation: $___/yr  (audit spreadsheet)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Renego window: [Vendor]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Volume discount: [condition]  (vendor quote)</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Shadow IT: ___ unauthorized apps  (Umbrella/Atakama)</a:t>
            </a:r>
            <a:endParaRPr lang="en-US" sz="1100" dirty="0"/>
          </a:p>
        </p:txBody>
      </p:sp>
      <p:sp>
        <p:nvSpPr>
          <p:cNvPr id="23" name="Rectangle 22"/>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7" name="TextBox 26"/>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8" name="TextBox 27"/>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E7BCAE1E-3C9A-4CB4-B5F6-BFAA24325398}" type="slidenum">
              <a:rPr lang="en-US" sz="700" dirty="0">
                <a:solidFill>
                  <a:srgbClr val="5A6485"/>
                </a:solidFill>
                <a:latin typeface="Open Sans"/>
              </a:rPr>
              <a:t>‹#›</a:t>
            </a:fld>
          </a:p>
        </p:txBody>
      </p:sp>
      <p:pic>
        <p:nvPicPr>
          <p:cNvPr id="29" name="Picture 28"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IT SPEND — BUDGET VS. ACTUAL (YTD)</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B9337BDB-0BC0-493E-8C9E-4F1892BD3558}" type="slidenum">
              <a:rPr lang="en-US" sz="700" dirty="0">
                <a:solidFill>
                  <a:srgbClr val="5A6485"/>
                </a:solidFill>
                <a:latin typeface="Open Sans"/>
              </a:rPr>
              <a:t>‹#›</a:t>
            </a:fld>
          </a:p>
        </p:txBody>
      </p:sp>
      <p:pic>
        <p:nvPicPr>
          <p:cNvPr id="25" name="Picture 24" descr="DIT_Logo - Icon - Full Color.png"/>
          <p:cNvPicPr>
            <a:picLocks noChangeAspect="1"/>
          </p:cNvPicPr>
          <p:nvPr/>
        </p:nvPicPr>
        <p:blipFill>
          <a:blip r:embed="rId4"/>
          <a:stretch>
            <a:fillRect/>
          </a:stretch>
        </p:blipFill>
        <p:spPr>
          <a:xfrm>
            <a:off x="8686800" y="100000"/>
            <a:ext cx="320040" cy="3200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RISK REGISTER</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18872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54864" cy="731520"/>
          </a:xfrm>
          <a:prstGeom prst="rect">
            <a:avLst/>
          </a:prstGeom>
          <a:solidFill>
            <a:srgbClr val="CC2936"/>
          </a:solidFill>
          <a:ln/>
        </p:spPr>
        <p:txBody>
          <a:bodyPr/>
          <a:lstStyle/>
          <a:p>
            <a:endParaRPr/>
          </a:p>
        </p:txBody>
      </p:sp>
      <p:sp>
        <p:nvSpPr>
          <p:cNvPr id="6" name="Text 4"/>
          <p:cNvSpPr/>
          <p:nvPr/>
        </p:nvSpPr>
        <p:spPr>
          <a:xfrm>
            <a:off x="1005840" y="1325880"/>
            <a:ext cx="822960" cy="228600"/>
          </a:xfrm>
          <a:prstGeom prst="rect">
            <a:avLst/>
          </a:prstGeom>
          <a:solidFill>
            <a:srgbClr val="CC2936"/>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CRITICAL</a:t>
            </a:r>
            <a:endParaRPr lang="en-US" sz="800" dirty="0"/>
          </a:p>
        </p:txBody>
      </p:sp>
      <p:sp>
        <p:nvSpPr>
          <p:cNvPr id="7" name="Text 5"/>
          <p:cNvSpPr/>
          <p:nvPr/>
        </p:nvSpPr>
        <p:spPr>
          <a:xfrm>
            <a:off x="2011680" y="1261872"/>
            <a:ext cx="6217920" cy="274320"/>
          </a:xfrm>
          <a:prstGeom prst="rect">
            <a:avLst/>
          </a:prstGeom>
          <a:noFill/>
          <a:ln/>
        </p:spPr>
        <p:txBody>
          <a:bodyPr wrap="square" lIns="0" tIns="0" rIns="0" bIns="0" rtlCol="0" anchor="ctr"/>
          <a:lstStyle/>
          <a:p>
            <a:pPr marL="0" indent="0">
              <a:buNone/>
            </a:pPr>
            <a:r>
              <a:rPr lang="en-US" sz="1200" b="1" dirty="0">
                <a:solidFill>
                  <a:srgbClr val="1B2755"/>
                </a:solidFill>
                <a:latin typeface="Open Sans" pitchFamily="34" charset="0"/>
                <a:ea typeface="Open Sans" pitchFamily="34" charset="-122"/>
                <a:cs typeface="Open Sans" pitchFamily="34" charset="-120"/>
              </a:rPr>
              <a:t>[Risk — NinjaRMM alerts + ConnectWise tickets]</a:t>
            </a:r>
            <a:endParaRPr lang="en-US" sz="1200" dirty="0"/>
          </a:p>
        </p:txBody>
      </p:sp>
      <p:sp>
        <p:nvSpPr>
          <p:cNvPr id="8" name="Text 6"/>
          <p:cNvSpPr/>
          <p:nvPr/>
        </p:nvSpPr>
        <p:spPr>
          <a:xfrm>
            <a:off x="2011680" y="155448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Impact + mitigation  (ConnectWise &gt; Projects)</a:t>
            </a:r>
            <a:endParaRPr lang="en-US" sz="900" dirty="0"/>
          </a:p>
        </p:txBody>
      </p:sp>
      <p:sp>
        <p:nvSpPr>
          <p:cNvPr id="9" name="Shape 7"/>
          <p:cNvSpPr/>
          <p:nvPr/>
        </p:nvSpPr>
        <p:spPr>
          <a:xfrm>
            <a:off x="731520" y="205740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731520" y="2057400"/>
            <a:ext cx="54864" cy="731520"/>
          </a:xfrm>
          <a:prstGeom prst="rect">
            <a:avLst/>
          </a:prstGeom>
          <a:solidFill>
            <a:srgbClr val="E8711A"/>
          </a:solidFill>
          <a:ln/>
        </p:spPr>
        <p:txBody>
          <a:bodyPr/>
          <a:lstStyle/>
          <a:p>
            <a:endParaRPr/>
          </a:p>
        </p:txBody>
      </p:sp>
      <p:sp>
        <p:nvSpPr>
          <p:cNvPr id="11" name="Text 9"/>
          <p:cNvSpPr/>
          <p:nvPr/>
        </p:nvSpPr>
        <p:spPr>
          <a:xfrm>
            <a:off x="1005840" y="2194560"/>
            <a:ext cx="822960" cy="228600"/>
          </a:xfrm>
          <a:prstGeom prst="rect">
            <a:avLst/>
          </a:prstGeom>
          <a:solidFill>
            <a:srgbClr val="E8711A"/>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HIGH</a:t>
            </a:r>
            <a:endParaRPr lang="en-US" sz="800" dirty="0"/>
          </a:p>
        </p:txBody>
      </p:sp>
      <p:sp>
        <p:nvSpPr>
          <p:cNvPr id="12" name="Text 10"/>
          <p:cNvSpPr/>
          <p:nvPr/>
        </p:nvSpPr>
        <p:spPr>
          <a:xfrm>
            <a:off x="2011680" y="2130552"/>
            <a:ext cx="6217920" cy="274320"/>
          </a:xfrm>
          <a:prstGeom prst="rect">
            <a:avLst/>
          </a:prstGeom>
          <a:noFill/>
          <a:ln/>
        </p:spPr>
        <p:txBody>
          <a:bodyPr wrap="square" lIns="0" tIns="0" rIns="0" bIns="0" rtlCol="0" anchor="ctr"/>
          <a:lstStyle/>
          <a:p>
            <a:pPr marL="0" indent="0">
              <a:buNone/>
            </a:pPr>
            <a:r>
              <a:rPr lang="en-US" sz="1200" b="1" dirty="0">
                <a:solidFill>
                  <a:srgbClr val="1B2755"/>
                </a:solidFill>
                <a:latin typeface="Open Sans" pitchFamily="34" charset="0"/>
                <a:ea typeface="Open Sans" pitchFamily="34" charset="-122"/>
                <a:cs typeface="Open Sans" pitchFamily="34" charset="-120"/>
              </a:rPr>
              <a:t>[Risk — NinjaRMM &gt; OS end-of-life report]</a:t>
            </a:r>
            <a:endParaRPr lang="en-US" sz="1200" dirty="0"/>
          </a:p>
        </p:txBody>
      </p:sp>
      <p:sp>
        <p:nvSpPr>
          <p:cNvPr id="13" name="Text 11"/>
          <p:cNvSpPr/>
          <p:nvPr/>
        </p:nvSpPr>
        <p:spPr>
          <a:xfrm>
            <a:off x="2011680" y="242316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EOL date + plan  (NinjaRMM + ConnectWise)</a:t>
            </a:r>
            <a:endParaRPr lang="en-US" sz="900" dirty="0"/>
          </a:p>
        </p:txBody>
      </p:sp>
      <p:sp>
        <p:nvSpPr>
          <p:cNvPr id="14" name="Shape 12"/>
          <p:cNvSpPr/>
          <p:nvPr/>
        </p:nvSpPr>
        <p:spPr>
          <a:xfrm>
            <a:off x="731520" y="292608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731520" y="2926080"/>
            <a:ext cx="54864" cy="731520"/>
          </a:xfrm>
          <a:prstGeom prst="rect">
            <a:avLst/>
          </a:prstGeom>
          <a:solidFill>
            <a:srgbClr val="F5C518"/>
          </a:solidFill>
          <a:ln/>
        </p:spPr>
        <p:txBody>
          <a:bodyPr/>
          <a:lstStyle/>
          <a:p>
            <a:endParaRPr/>
          </a:p>
        </p:txBody>
      </p:sp>
      <p:sp>
        <p:nvSpPr>
          <p:cNvPr id="16" name="Text 14"/>
          <p:cNvSpPr/>
          <p:nvPr/>
        </p:nvSpPr>
        <p:spPr>
          <a:xfrm>
            <a:off x="1005840" y="3063240"/>
            <a:ext cx="822960" cy="228600"/>
          </a:xfrm>
          <a:prstGeom prst="rect">
            <a:avLst/>
          </a:prstGeom>
          <a:solidFill>
            <a:srgbClr val="F5C518"/>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MEDIUM</a:t>
            </a:r>
            <a:endParaRPr lang="en-US" sz="800" dirty="0"/>
          </a:p>
        </p:txBody>
      </p:sp>
      <p:sp>
        <p:nvSpPr>
          <p:cNvPr id="17" name="Text 15"/>
          <p:cNvSpPr/>
          <p:nvPr/>
        </p:nvSpPr>
        <p:spPr>
          <a:xfrm>
            <a:off x="2011680" y="2999232"/>
            <a:ext cx="6217920" cy="274320"/>
          </a:xfrm>
          <a:prstGeom prst="rect">
            <a:avLst/>
          </a:prstGeom>
          <a:noFill/>
          <a:ln/>
        </p:spPr>
        <p:txBody>
          <a:bodyPr wrap="square" lIns="0" tIns="0" rIns="0" bIns="0" rtlCol="0" anchor="ctr"/>
          <a:lstStyle/>
          <a:p>
            <a:pPr marL="0" indent="0">
              <a:buNone/>
            </a:pPr>
            <a:r>
              <a:rPr lang="en-US" sz="1200" b="1" dirty="0">
                <a:solidFill>
                  <a:srgbClr val="1B2755"/>
                </a:solidFill>
                <a:latin typeface="Open Sans" pitchFamily="34" charset="0"/>
                <a:ea typeface="Open Sans" pitchFamily="34" charset="-122"/>
                <a:cs typeface="Open Sans" pitchFamily="34" charset="-120"/>
              </a:rPr>
              <a:t>[Risk — backup/DR test logs]</a:t>
            </a:r>
            <a:endParaRPr lang="en-US" sz="1200" dirty="0"/>
          </a:p>
        </p:txBody>
      </p:sp>
      <p:sp>
        <p:nvSpPr>
          <p:cNvPr id="18" name="Text 16"/>
          <p:cNvSpPr/>
          <p:nvPr/>
        </p:nvSpPr>
        <p:spPr>
          <a:xfrm>
            <a:off x="2011680" y="329184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DR test date + schedule  (NinjaRMM &gt; Backup)</a:t>
            </a:r>
            <a:endParaRPr lang="en-US" sz="900" dirty="0"/>
          </a:p>
        </p:txBody>
      </p:sp>
      <p:sp>
        <p:nvSpPr>
          <p:cNvPr id="19" name="Shape 17"/>
          <p:cNvSpPr/>
          <p:nvPr/>
        </p:nvSpPr>
        <p:spPr>
          <a:xfrm>
            <a:off x="731520" y="379476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731520" y="3794760"/>
            <a:ext cx="54864" cy="731520"/>
          </a:xfrm>
          <a:prstGeom prst="rect">
            <a:avLst/>
          </a:prstGeom>
          <a:solidFill>
            <a:srgbClr val="2EAA4F"/>
          </a:solidFill>
          <a:ln/>
        </p:spPr>
        <p:txBody>
          <a:bodyPr/>
          <a:lstStyle/>
          <a:p>
            <a:endParaRPr/>
          </a:p>
        </p:txBody>
      </p:sp>
      <p:sp>
        <p:nvSpPr>
          <p:cNvPr id="21" name="Text 19"/>
          <p:cNvSpPr/>
          <p:nvPr/>
        </p:nvSpPr>
        <p:spPr>
          <a:xfrm>
            <a:off x="1005840" y="3931920"/>
            <a:ext cx="822960" cy="228600"/>
          </a:xfrm>
          <a:prstGeom prst="rect">
            <a:avLst/>
          </a:prstGeom>
          <a:solidFill>
            <a:srgbClr val="2EAA4F"/>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LOW</a:t>
            </a:r>
            <a:endParaRPr lang="en-US" sz="800" dirty="0"/>
          </a:p>
        </p:txBody>
      </p:sp>
      <p:sp>
        <p:nvSpPr>
          <p:cNvPr id="22" name="Text 20"/>
          <p:cNvSpPr/>
          <p:nvPr/>
        </p:nvSpPr>
        <p:spPr>
          <a:xfrm>
            <a:off x="2011680" y="3867912"/>
            <a:ext cx="6217920" cy="274320"/>
          </a:xfrm>
          <a:prstGeom prst="rect">
            <a:avLst/>
          </a:prstGeom>
          <a:noFill/>
          <a:ln/>
        </p:spPr>
        <p:txBody>
          <a:bodyPr wrap="square" lIns="0" tIns="0" rIns="0" bIns="0" rtlCol="0" anchor="ctr"/>
          <a:lstStyle/>
          <a:p>
            <a:pPr marL="0" indent="0">
              <a:buNone/>
            </a:pPr>
            <a:r>
              <a:rPr lang="en-US" sz="1200" b="1" dirty="0">
                <a:solidFill>
                  <a:srgbClr val="1B2755"/>
                </a:solidFill>
                <a:latin typeface="Open Sans" pitchFamily="34" charset="0"/>
                <a:ea typeface="Open Sans" pitchFamily="34" charset="-122"/>
                <a:cs typeface="Open Sans" pitchFamily="34" charset="-120"/>
              </a:rPr>
              <a:t>[Risk — client-provided info]</a:t>
            </a:r>
            <a:endParaRPr lang="en-US" sz="1200" dirty="0"/>
          </a:p>
        </p:txBody>
      </p:sp>
      <p:sp>
        <p:nvSpPr>
          <p:cNvPr id="23" name="Text 21"/>
          <p:cNvSpPr/>
          <p:nvPr/>
        </p:nvSpPr>
        <p:spPr>
          <a:xfrm>
            <a:off x="2011680" y="416052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Mitigation  (ConnectWise &gt; Project Board)</a:t>
            </a:r>
            <a:endParaRPr lang="en-US" sz="900" dirty="0"/>
          </a:p>
        </p:txBody>
      </p:sp>
      <p:sp>
        <p:nvSpPr>
          <p:cNvPr id="34" name="Rectangle 3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38" name="TextBox 3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39" name="TextBox 3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5F632A4B-437B-408D-A438-7B4C0FB15942}" type="slidenum">
              <a:rPr lang="en-US" sz="700" dirty="0">
                <a:solidFill>
                  <a:srgbClr val="5A6485"/>
                </a:solidFill>
                <a:latin typeface="Open Sans"/>
              </a:rPr>
              <a:t>‹#›</a:t>
            </a:fld>
          </a:p>
        </p:txBody>
      </p:sp>
      <p:pic>
        <p:nvPicPr>
          <p:cNvPr id="40" name="Picture 3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4572000" y="1100000"/>
            <a:ext cx="9144" cy="35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65000" y="11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65000" y="19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65000" y="27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65000" y="35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65000" y="43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0000" y="1100000"/>
            <a:ext cx="3750000" cy="3550000"/>
          </a:xfrm>
          <a:prstGeom prst="roundRect">
            <a:avLst/>
          </a:prstGeom>
          <a:solidFill>
            <a:srgbClr val="162048">
              <a:alpha val="2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00000" y="1100000"/>
            <a:ext cx="3750000" cy="3550000"/>
          </a:xfrm>
          <a:prstGeom prst="roundRect">
            <a:avLst/>
          </a:prstGeom>
          <a:solidFill>
            <a:srgbClr val="162048">
              <a:alpha val="2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44000" y="0"/>
            <a:ext cx="400000" cy="27432"/>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763500"/>
            <a:ext cx="2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BENCHMARKING &amp; INDUSTRY COMPARISON</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3657600" cy="54864"/>
          </a:xfrm>
          <a:prstGeom prst="rect">
            <a:avLst/>
          </a:prstGeom>
          <a:solidFill>
            <a:srgbClr val="135CFD"/>
          </a:solidFill>
          <a:ln/>
        </p:spPr>
        <p:txBody>
          <a:bodyPr/>
          <a:lstStyle/>
          <a:p>
            <a:endParaRPr/>
          </a:p>
        </p:txBody>
      </p:sp>
      <p:sp>
        <p:nvSpPr>
          <p:cNvPr id="6" name="Text 4"/>
          <p:cNvSpPr/>
          <p:nvPr/>
        </p:nvSpPr>
        <p:spPr>
          <a:xfrm>
            <a:off x="1005840" y="1371600"/>
            <a:ext cx="3108960" cy="365760"/>
          </a:xfrm>
          <a:prstGeom prst="rect">
            <a:avLst/>
          </a:prstGeom>
          <a:noFill/>
          <a:ln/>
        </p:spPr>
        <p:txBody>
          <a:bodyPr wrap="square" lIns="0" tIns="0" rIns="0" bIns="0" rtlCol="0" anchor="ctr"/>
          <a:lstStyle/>
          <a:p>
            <a:pPr marL="0" indent="0">
              <a:buNone/>
            </a:pPr>
            <a:r>
              <a:rPr lang="en-US" sz="1400" b="1" dirty="0">
                <a:solidFill>
                  <a:srgbClr val="135CFD"/>
                </a:solidFill>
                <a:latin typeface="Open Sans" pitchFamily="34" charset="0"/>
                <a:ea typeface="Open Sans" pitchFamily="34" charset="-122"/>
                <a:cs typeface="Open Sans" pitchFamily="34" charset="-120"/>
              </a:rPr>
              <a:t>Your Metrics vs. Industry</a:t>
            </a:r>
            <a:endParaRPr lang="en-US" sz="1400" dirty="0"/>
          </a:p>
        </p:txBody>
      </p:sp>
      <p:sp>
        <p:nvSpPr>
          <p:cNvPr id="7" name="Text 5"/>
          <p:cNvSpPr/>
          <p:nvPr/>
        </p:nvSpPr>
        <p:spPr>
          <a:xfrm>
            <a:off x="100584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IT spend: ___% vs ___% avg  (client financials)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Endpoints/tech: ___ vs ___  (NinjaRMM + ConnectWise)</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MTTR (P1): ___ hrs  (ConnectWise &gt; SLA Reports)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Security percentile: ___th  (M365 Security Center)</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Cloud: ___% vs ___% avg  (NinjaRMM + M365)</a:t>
            </a:r>
            <a:endParaRPr lang="en-US" sz="1100" dirty="0"/>
          </a:p>
        </p:txBody>
      </p:sp>
      <p:sp>
        <p:nvSpPr>
          <p:cNvPr id="8" name="Shape 6"/>
          <p:cNvSpPr/>
          <p:nvPr/>
        </p:nvSpPr>
        <p:spPr>
          <a:xfrm>
            <a:off x="475488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9" name="Shape 7"/>
          <p:cNvSpPr/>
          <p:nvPr/>
        </p:nvSpPr>
        <p:spPr>
          <a:xfrm>
            <a:off x="4754880" y="1188720"/>
            <a:ext cx="3657600" cy="54864"/>
          </a:xfrm>
          <a:prstGeom prst="rect">
            <a:avLst/>
          </a:prstGeom>
          <a:solidFill>
            <a:srgbClr val="3CEEB6"/>
          </a:solidFill>
          <a:ln/>
        </p:spPr>
        <p:txBody>
          <a:bodyPr/>
          <a:lstStyle/>
          <a:p>
            <a:endParaRPr/>
          </a:p>
        </p:txBody>
      </p:sp>
      <p:sp>
        <p:nvSpPr>
          <p:cNvPr id="10" name="Text 8"/>
          <p:cNvSpPr/>
          <p:nvPr/>
        </p:nvSpPr>
        <p:spPr>
          <a:xfrm>
            <a:off x="5029200" y="1371600"/>
            <a:ext cx="3108960" cy="365760"/>
          </a:xfrm>
          <a:prstGeom prst="rect">
            <a:avLst/>
          </a:prstGeom>
          <a:noFill/>
          <a:ln/>
        </p:spPr>
        <p:txBody>
          <a:bodyPr wrap="square" lIns="0" tIns="0" rIns="0" bIns="0" rtlCol="0" anchor="ctr"/>
          <a:lstStyle/>
          <a:p>
            <a:pPr marL="0" indent="0">
              <a:buNone/>
            </a:pPr>
            <a:r>
              <a:rPr lang="en-US" sz="1400" b="1" dirty="0">
                <a:solidFill>
                  <a:srgbClr val="135CFD"/>
                </a:solidFill>
                <a:latin typeface="Open Sans" pitchFamily="34" charset="0"/>
                <a:ea typeface="Open Sans" pitchFamily="34" charset="-122"/>
                <a:cs typeface="Open Sans" pitchFamily="34" charset="-120"/>
              </a:rPr>
              <a:t>Maturity Assessment</a:t>
            </a:r>
            <a:endParaRPr lang="en-US" sz="1400" dirty="0"/>
          </a:p>
        </p:txBody>
      </p:sp>
      <p:sp>
        <p:nvSpPr>
          <p:cNvPr id="11" name="Text 9"/>
          <p:cNvSpPr/>
          <p:nvPr/>
        </p:nvSpPr>
        <p:spPr>
          <a:xfrm>
            <a:off x="502920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IT maturity: ___/5  (Midas or manual)</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Strongest: ___  (assessment)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Biggest gap: ___  (assessment)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YoY trend: ___  (prior QBR comparison)</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Target: ___/5  (agreed with client)</a:t>
            </a:r>
            <a:endParaRPr lang="en-US" sz="1100" dirty="0"/>
          </a:p>
        </p:txBody>
      </p:sp>
      <p:sp>
        <p:nvSpPr>
          <p:cNvPr id="23" name="Rectangle 22"/>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7" name="TextBox 26"/>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8" name="TextBox 27"/>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E00EF275-F933-4745-964A-506A9ED4E301}" type="slidenum">
              <a:rPr lang="en-US" sz="700" dirty="0">
                <a:solidFill>
                  <a:srgbClr val="5A6485"/>
                </a:solidFill>
                <a:latin typeface="Open Sans"/>
              </a:rPr>
              <a:t>‹#›</a:t>
            </a:fld>
          </a:p>
        </p:txBody>
      </p:sp>
      <p:pic>
        <p:nvPicPr>
          <p:cNvPr id="29" name="Picture 28"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STRATEGIC RECOMMENDATIONS</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Text 2"/>
          <p:cNvSpPr/>
          <p:nvPr/>
        </p:nvSpPr>
        <p:spPr>
          <a:xfrm>
            <a:off x="731520" y="1051560"/>
            <a:ext cx="7680960" cy="365760"/>
          </a:xfrm>
          <a:prstGeom prst="rect">
            <a:avLst/>
          </a:prstGeom>
          <a:noFill/>
          <a:ln/>
        </p:spPr>
        <p:txBody>
          <a:bodyPr wrap="square" lIns="0" tIns="0" rIns="0" bIns="0" rtlCol="0" anchor="ctr"/>
          <a:lstStyle/>
          <a:p>
            <a:pPr marL="0" indent="0">
              <a:buNone/>
            </a:pPr>
            <a:r>
              <a:rPr lang="en-US" sz="1300" dirty="0">
                <a:solidFill>
                  <a:srgbClr val="666677"/>
                </a:solidFill>
                <a:latin typeface="Open Sans" pitchFamily="34" charset="0"/>
                <a:ea typeface="Open Sans" pitchFamily="34" charset="-122"/>
                <a:cs typeface="Open Sans" pitchFamily="34" charset="-120"/>
              </a:rPr>
              <a:t>Prioritized recommendations aligned to business objectives</a:t>
            </a:r>
            <a:endParaRPr lang="en-US" sz="1300" dirty="0"/>
          </a:p>
        </p:txBody>
      </p:sp>
      <p:sp>
        <p:nvSpPr>
          <p:cNvPr id="5" name="Text 3"/>
          <p:cNvSpPr/>
          <p:nvPr/>
        </p:nvSpPr>
        <p:spPr>
          <a:xfrm>
            <a:off x="914400" y="1463040"/>
            <a:ext cx="7315200" cy="32232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tie to business objective + ROI]</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security/compliance + risk reduction]</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efficiency + cost savings]</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modernization + competitive edge]</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people/process improvement]</a:t>
            </a:r>
            <a:endParaRPr lang="en-US" sz="1300" dirty="0"/>
          </a:p>
        </p:txBody>
      </p:sp>
      <p:sp>
        <p:nvSpPr>
          <p:cNvPr id="16" name="Rectangle 15"/>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0" name="TextBox 19"/>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1" name="TextBox 20"/>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0EEDC148-6750-4856-BE7F-520B5DA8BDA6}" type="slidenum">
              <a:rPr lang="en-US" sz="700" dirty="0">
                <a:solidFill>
                  <a:srgbClr val="5A6485"/>
                </a:solidFill>
                <a:latin typeface="Open Sans"/>
              </a:rPr>
              <a:t>‹#›</a:t>
            </a:fld>
          </a:p>
        </p:txBody>
      </p:sp>
      <p:pic>
        <p:nvPicPr>
          <p:cNvPr id="22" name="Picture 21"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6" name="Rectangle 25"/>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ACTION ITEMS &amp; NEXT STEPS</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223760" cy="2560320"/>
        </p:xfrm>
        <a:graphic>
          <a:graphicData uri="http://schemas.openxmlformats.org/drawingml/2006/table">
            <a:tbl>
              <a:tblPr/>
              <a:tblGrid>
                <a:gridCol w="3657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760">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Action Item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Owner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Due 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Priority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CC2936"/>
                          </a:solidFill>
                          <a:latin typeface="Open Sans" pitchFamily="34" charset="0"/>
                          <a:ea typeface="Open Sans" pitchFamily="34" charset="-122"/>
                          <a:cs typeface="Open Sans" pitchFamily="34" charset="-120"/>
                        </a:rPr>
                        <a:t>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E8711A"/>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E8711A"/>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[Carry-forward from last QBR]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6</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[Long-term initiative checkpoint]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63" name="Rectangle 62"/>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67" name="TextBox 66"/>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68" name="TextBox 67"/>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5F36C3B7-093E-46E1-AA62-37F8F38B7869}" type="slidenum">
              <a:rPr lang="en-US" sz="700" dirty="0">
                <a:solidFill>
                  <a:srgbClr val="5A6485"/>
                </a:solidFill>
                <a:latin typeface="Open Sans"/>
              </a:rPr>
              <a:t>‹#›</a:t>
            </a:fld>
          </a:p>
        </p:txBody>
      </p:sp>
      <p:pic>
        <p:nvPicPr>
          <p:cNvPr id="69" name="Picture 68"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APPENDIX</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Text 2"/>
          <p:cNvSpPr/>
          <p:nvPr/>
        </p:nvSpPr>
        <p:spPr>
          <a:xfrm>
            <a:off x="731520" y="1371600"/>
            <a:ext cx="7680960" cy="32004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Detailed Ticket Log</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Full Asset Inventory</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Patch Compliance Detail by Device</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Security Scan Results  (SentinelOne + Huntress exports)</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Vendor Contract Summary</a:t>
            </a:r>
            <a:endParaRPr lang="en-US" sz="1300" dirty="0"/>
          </a:p>
          <a:p>
            <a:pPr marL="342900" indent="-342900">
              <a:buSzPct val="100000"/>
              <a:buChar char="•"/>
            </a:pPr>
            <a:r>
              <a:rPr lang="en-US" sz="1300" dirty="0">
                <a:solidFill>
                  <a:srgbClr val="333333"/>
                </a:solidFill>
                <a:latin typeface="Open Sans" pitchFamily="34" charset="0"/>
                <a:ea typeface="Open Sans" pitchFamily="34" charset="-122"/>
                <a:cs typeface="Open Sans" pitchFamily="34" charset="-120"/>
              </a:rPr>
              <a:t>Glossary of Terms</a:t>
            </a:r>
            <a:endParaRPr lang="en-US" sz="1300" dirty="0"/>
          </a:p>
        </p:txBody>
      </p:sp>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5C210415-4D64-45B4-AC58-B525B6798D09}" type="slidenum">
              <a:rPr lang="en-US" sz="700" dirty="0">
                <a:solidFill>
                  <a:srgbClr val="5A6485"/>
                </a:solidFill>
                <a:latin typeface="Open Sans"/>
              </a:rPr>
              <a:t>‹#›</a:t>
            </a:fld>
          </a:p>
        </p:txBody>
      </p:sp>
      <p:pic>
        <p:nvPicPr>
          <p:cNvPr id="21" name="Picture 20"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1B2755"/>
        </a:solidFill>
        <a:effectLst/>
      </p:bgPr>
    </p:bg>
    <p:spTree>
      <p:nvGrpSpPr>
        <p:cNvPr id="1" name=""/>
        <p:cNvGrpSpPr/>
        <p:nvPr/>
      </p:nvGrpSpPr>
      <p:grpSpPr>
        <a:xfrm>
          <a:off x="0" y="0"/>
          <a:ext cx="0" cy="0"/>
          <a:chOff x="0" y="0"/>
          <a:chExt cx="0" cy="0"/>
        </a:xfrm>
      </p:grpSpPr>
      <p:sp>
        <p:nvSpPr>
          <p:cNvPr id="7" name="Oval 6"/>
          <p:cNvSpPr/>
          <p:nvPr/>
        </p:nvSpPr>
        <p:spPr>
          <a:xfrm>
            <a:off x="5000000" y="-1200000"/>
            <a:ext cx="6000000" cy="6000000"/>
          </a:xfrm>
          <a:prstGeom prst="ellipse">
            <a:avLst/>
          </a:prstGeom>
          <a:solidFill>
            <a:srgbClr val="1F2E62">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300000" y="100000"/>
            <a:ext cx="3400000" cy="3400000"/>
          </a:xfrm>
          <a:prstGeom prst="ellipse">
            <a:avLst/>
          </a:prstGeom>
          <a:solidFill>
            <a:srgbClr val="1B2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45720" cy="51435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 y="0"/>
            <a:ext cx="18288" cy="51435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00000" y="1500000"/>
            <a:ext cx="54864" cy="54864"/>
          </a:xfrm>
          <a:prstGeom prst="ellipse">
            <a:avLst/>
          </a:prstGeom>
          <a:solidFill>
            <a:srgbClr val="3CEEB6">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200000" y="3000000"/>
            <a:ext cx="54864" cy="54864"/>
          </a:xfrm>
          <a:prstGeom prst="ellipse">
            <a:avLst/>
          </a:prstGeom>
          <a:solidFill>
            <a:srgbClr val="3CEEB6">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000000" y="800000"/>
            <a:ext cx="54864" cy="54864"/>
          </a:xfrm>
          <a:prstGeom prst="ellipse">
            <a:avLst/>
          </a:prstGeom>
          <a:solidFill>
            <a:srgbClr val="3CEEB6">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00" cy="54864"/>
          </a:xfrm>
          <a:prstGeom prst="rect">
            <a:avLst/>
          </a:prstGeom>
          <a:solidFill>
            <a:srgbClr val="3CEEB6"/>
          </a:solidFill>
          <a:ln/>
        </p:spPr>
        <p:txBody>
          <a:bodyPr/>
          <a:lstStyle/>
          <a:p>
            <a:endParaRPr/>
          </a:p>
        </p:txBody>
      </p:sp>
      <p:sp>
        <p:nvSpPr>
          <p:cNvPr id="3" name="Text 1"/>
          <p:cNvSpPr/>
          <p:nvPr/>
        </p:nvSpPr>
        <p:spPr>
          <a:xfrm>
            <a:off x="731520" y="1097280"/>
            <a:ext cx="7680960" cy="1097280"/>
          </a:xfrm>
          <a:prstGeom prst="rect">
            <a:avLst/>
          </a:prstGeom>
          <a:noFill/>
          <a:ln/>
        </p:spPr>
        <p:txBody>
          <a:bodyPr wrap="square" lIns="0" tIns="0" rIns="0" bIns="0" rtlCol="0" anchor="ctr"/>
          <a:lstStyle/>
          <a:p>
            <a:pPr marL="0" indent="0" algn="ctr">
              <a:buNone/>
            </a:pPr>
            <a:r>
              <a:rPr lang="en-US" sz="4400" b="1" dirty="0">
                <a:solidFill>
                  <a:srgbClr val="FFFFFF"/>
                </a:solidFill>
                <a:latin typeface="Open Sans" pitchFamily="34" charset="0"/>
                <a:ea typeface="Open Sans" pitchFamily="34" charset="-122"/>
                <a:cs typeface="Open Sans" pitchFamily="34" charset="-120"/>
              </a:rPr>
              <a:t>Thank You</a:t>
            </a:r>
            <a:endParaRPr lang="en-US" sz="4400" dirty="0"/>
          </a:p>
        </p:txBody>
      </p:sp>
      <p:sp>
        <p:nvSpPr>
          <p:cNvPr id="4" name="Text 2"/>
          <p:cNvSpPr/>
          <p:nvPr/>
        </p:nvSpPr>
        <p:spPr>
          <a:xfrm>
            <a:off x="731520" y="2286000"/>
            <a:ext cx="7680960" cy="548640"/>
          </a:xfrm>
          <a:prstGeom prst="rect">
            <a:avLst/>
          </a:prstGeom>
          <a:noFill/>
          <a:ln/>
        </p:spPr>
        <p:txBody>
          <a:bodyPr wrap="square" lIns="0" tIns="0" rIns="0" bIns="0" rtlCol="0" anchor="ctr"/>
          <a:lstStyle/>
          <a:p>
            <a:pPr marL="0" indent="0" algn="ctr">
              <a:buNone/>
            </a:pPr>
            <a:r>
              <a:rPr lang="en-US" sz="1800" dirty="0">
                <a:solidFill>
                  <a:srgbClr val="3CEEB6"/>
                </a:solidFill>
                <a:latin typeface="Open Sans" pitchFamily="34" charset="0"/>
                <a:ea typeface="Open Sans" pitchFamily="34" charset="-122"/>
                <a:cs typeface="Open Sans" pitchFamily="34" charset="-120"/>
              </a:rPr>
              <a:t>Questions &amp; Discussion</a:t>
            </a:r>
            <a:endParaRPr lang="en-US" sz="1800" dirty="0"/>
          </a:p>
        </p:txBody>
      </p:sp>
      <p:sp>
        <p:nvSpPr>
          <p:cNvPr id="5" name="Text 3"/>
          <p:cNvSpPr/>
          <p:nvPr/>
        </p:nvSpPr>
        <p:spPr>
          <a:xfrm>
            <a:off x="731520" y="3200400"/>
            <a:ext cx="7680960" cy="914400"/>
          </a:xfrm>
          <a:prstGeom prst="rect">
            <a:avLst/>
          </a:prstGeom>
          <a:noFill/>
          <a:ln/>
        </p:spPr>
        <p:txBody>
          <a:bodyPr wrap="square" lIns="0" tIns="0" rIns="0" bIns="0" rtlCol="0" anchor="ctr"/>
          <a:lstStyle/>
          <a:p>
            <a:pPr marL="0" indent="0" algn="ctr">
              <a:buNone/>
            </a:pPr>
            <a:r>
              <a:rPr lang="en-US" sz="1300" dirty="0">
                <a:solidFill>
                  <a:srgbClr val="FFFFFF"/>
                </a:solidFill>
                <a:latin typeface="Open Sans" pitchFamily="34" charset="0"/>
                <a:ea typeface="Open Sans" pitchFamily="34" charset="-122"/>
                <a:cs typeface="Open Sans" pitchFamily="34" charset="-120"/>
              </a:rPr>
              <a:t>[Your Name]  |  [Title]
</a:t>
            </a:r>
            <a:endParaRPr lang="en-US" sz="1300" dirty="0"/>
          </a:p>
          <a:p>
            <a:pPr marL="0" indent="0" algn="ctr">
              <a:buNone/>
            </a:pPr>
            <a:endParaRPr lang="en-US" sz="1300" dirty="0"/>
            <a:r>
              <a:rPr lang="en-US" sz="700" dirty="0">
                <a:solidFill>
                  <a:srgbClr val="5A6485"/>
                </a:solidFill>
                <a:latin typeface="Open Sans"/>
              </a:rPr>
              <a:t>[name]@dedicatedit.com  |  </a:t>
            </a:r>
            <a:fld id="{864FE1EA-FEEC-4406-92D8-8C8DD8EDB42D}" type="slidenum">
              <a:rPr lang="en-US" sz="700" dirty="0">
                <a:solidFill>
                  <a:srgbClr val="5A6485"/>
                </a:solidFill>
                <a:latin typeface="Open Sans"/>
              </a:rPr>
              <a:t>‹#›</a:t>
            </a:fld>
          </a:p>
        </p:txBody>
      </p:sp>
      <p:sp>
        <p:nvSpPr>
          <p:cNvPr id="6" name="Shape 4"/>
          <p:cNvSpPr/>
          <p:nvPr/>
        </p:nvSpPr>
        <p:spPr>
          <a:xfrm>
            <a:off x="0" y="4960620"/>
            <a:ext cx="9144000" cy="182880"/>
          </a:xfrm>
          <a:prstGeom prst="rect">
            <a:avLst/>
          </a:prstGeom>
          <a:solidFill>
            <a:srgbClr val="3CEEB6"/>
          </a:solidFill>
          <a:ln/>
        </p:spPr>
        <p:txBody>
          <a:bodyPr/>
          <a:lstStyle/>
          <a:p>
            <a:endParaRPr/>
          </a:p>
        </p:txBody>
      </p:sp>
      <p:pic>
        <p:nvPicPr>
          <p:cNvPr id="14" name="Picture 13" descr="DIT_Logo - Full White.png"/>
          <p:cNvPicPr>
            <a:picLocks noChangeAspect="1"/>
          </p:cNvPicPr>
          <p:nvPr/>
        </p:nvPicPr>
        <p:blipFill>
          <a:blip r:embed="rId3"/>
          <a:stretch>
            <a:fillRect/>
          </a:stretch>
        </p:blipFill>
        <p:spPr>
          <a:xfrm>
            <a:off x="731520" y="320040"/>
            <a:ext cx="1609344" cy="22860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81759812-2989-464D-AB19-E6CD0107A26E}" type="slidenum">
              <a:rPr lang="en-US" sz="700" dirty="0">
                <a:solidFill>
                  <a:srgbClr val="5A6485"/>
                </a:solidFill>
                <a:latin typeface="Open Sans"/>
              </a:rPr>
              <a:t>‹#›</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7290</Words>
  <Application>Microsoft Macintosh PowerPoint</Application>
  <PresentationFormat>On-screen Show (16:9)</PresentationFormat>
  <Paragraphs>641</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Open Sans</vt:lpstr>
      <vt:lpstr>Zapfino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Dedicated IT — Quarterly/Annual Business Review (Mid-Market / Enterprise)</dc:title>
  <dc:subject>PptxGenJS Presentation</dc:subject>
  <dc:creator>Benjamin Posner</dc:creator>
  <cp:lastModifiedBy>Benjamin Posner</cp:lastModifiedBy>
  <cp:revision>2</cp:revision>
  <dcterms:created xsi:type="dcterms:W3CDTF">2026-03-24T18:59:36Z</dcterms:created>
  <dcterms:modified xsi:type="dcterms:W3CDTF">2026-03-24T20:13:31Z</dcterms:modified>
</cp:coreProperties>
</file>