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notesMasterIdLst>
    <p:notesMasterId r:id="rId19"/>
  </p:notesMasterIdLst>
  <p:sldIdLst>
    <p:sldId id="273" r:id="rId2"/>
    <p:sldId id="256" r:id="rId3"/>
    <p:sldId id="257" r:id="rId4"/>
    <p:sldId id="258" r:id="rId5"/>
    <p:sldId id="270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1" r:id="rId16"/>
    <p:sldId id="272" r:id="rId17"/>
    <p:sldId id="268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 Opened</c:v>
                </c:pt>
              </c:strCache>
            </c:strRef>
          </c:tx>
          <c:spPr>
            <a:solidFill>
              <a:srgbClr val="135CF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38</c:v>
                </c:pt>
                <c:pt idx="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DD-DC42-BA3B-BB3DB8476C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3CEE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</c:v>
                </c:pt>
                <c:pt idx="1">
                  <c:v>39</c:v>
                </c:pt>
                <c:pt idx="2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DD-DC42-BA3B-BB3DB8476C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E1EFF6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634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INSTRUCTION SLIDE — HIDE IT BEFORE PRESENTING.</a:t>
            </a:r>
            <a:br/>
            <a:br/>
            <a:r>
              <a:t>Right-click → "Hide Slide" before presenting or exporting to PDF.</a:t>
            </a:r>
            <a:br/>
            <a:br/>
            <a:r>
              <a:t>CADENCE: Q1, Q2, Q3 = QBR deck  |  Q4 = ABR deck (Q4 data + annual wrap)</a:t>
            </a:r>
            <a:br/>
            <a:br/>
            <a:r>
              <a:t>DATA SOURCES:</a:t>
            </a:r>
            <a:br/>
            <a:r>
              <a:t>- Salesforce: tickets, SLA, projects, contracts, billing</a:t>
            </a:r>
            <a:br/>
            <a:r>
              <a:t>- RMM (TBD): endpoints, patching, alerts, uptime, backup</a:t>
            </a:r>
            <a:br/>
            <a:r>
              <a:t>- Guardz: unified security platform (+ SentinelOne EDR/MDR when needed)</a:t>
            </a:r>
            <a:br/>
            <a:r>
              <a:t>- Huntress: ITDR, identity threat detection</a:t>
            </a:r>
            <a:br/>
            <a:r>
              <a:t>- Cisco Duo: MFA enrollment, authentication logs</a:t>
            </a:r>
            <a:br/>
            <a:r>
              <a:t>- Atakama: browser security, DNS filtering</a:t>
            </a:r>
            <a:br/>
            <a:r>
              <a:t>- M365 Security Center: Secure Score</a:t>
            </a:r>
            <a:br/>
            <a:r>
              <a:t>- Entra ID: Conditional Access</a:t>
            </a:r>
            <a:br/>
            <a:br/>
            <a:r>
              <a:t>Yours truly, Uncle 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Client name, date range, and review period — Salesforce or Salesforce/Salesforce.
- "Prepared for" — use the primary contact's name or just the company name if presenting to a group.
HOW TO TALK ABOUT IT:
- Start with a handshake moment. "Thanks for making time for this — these reviews are how we make sure your IT is actually working for you, not just running in the background."
- Don't read the slide. It's a title card. Use this 30 seconds to set the tone: relaxed, confident, collaborative.
- If there's a big win to tease, drop it now: "We've got some really good news on the security front today."
- If there's bad news coming, don't hide it — foreshadow: "There are a couple items we want to get your input on."
- SMB audiences value straight talk over polish. Be a trusted advisor, not a salesperson.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This is your agenda — no external data needed. Customize it based on what matters most to THIS client right now.
HOW TO TALK ABOUT IT:
- Breeze through this in 15 seconds. "Here's what we'll cover today — but feel free to jump in anytime if something comes to mind."
- If the client has a hot topic (outage last week, upcoming project, renewal decision), acknowledge it: "I know [topic] is top of mind — we'll get to that in section [X]."
- This slide exists so nobody wonders "how long is this going to take?" Not so you can read 9 bullet points out loud.
- PRO TIP: Ask "Is there anything you want to make sure we cover that isn't on here?" It shows you're there for them, not just running a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Total Endpoints: RMM (TBD) dashboard → Devices → filter by client/site.
- SLA Compliance: Salesforce → SLA reports → filter by contract and date range.
- Tickets Resolved: Salesforce → Ticket reports → Closed tickets for the quarter.
- Client Satisfaction: Salesforce CSAT survey results, or if you don't have automated surveys, use ticket feedback or ask during the QBR.
HOW TO TALK ABOUT IT:
- Lead with the headline, not the number. "Your environment is healthy and stable" is better than "You have 47 endpoints."
- Frame SLA compliance as a promise kept: "We committed to a 99.5% SLA — we delivered [X]%. That means your team experienced [translate to real impact: hours of uptime, tickets resolved same-day, etc.]."
- If CSAT is high, own it briefly and move on. If it's low, don't be defensive — "We noticed satisfaction dipped and we dug into why. Here's what we found and what we're doing about it."
- This is your 30-second "state of the union." Confident, not cocky. If everything's green, say so and move on. Don't oversell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WHERE TO GET THE DATA:</a:t>
            </a:r>
            <a:br/>
            <a:r>
              <a:t>- BASELINE COLUMN: Pull from your onboarding documentation, initial assessment, or first RMM (TBD) snapshot. If you don't have Day 1 numbers, use the earliest QBR data you have. Store these permanently in your QBR tracking spreadsheet — they NEVER change.</a:t>
            </a:r>
            <a:br/>
            <a:r>
              <a:t>- LAST QUARTER COLUMN: Copy from the previous QBR deck. This is why saving decks matters.</a:t>
            </a:r>
            <a:br/>
            <a:r>
              <a:t>- THIS QUARTER COLUMN: Pull fresh numbers right before the QBR:</a:t>
            </a:r>
            <a:br/>
            <a:r>
              <a:t>  * Secure Score: security.microsoft.com → Secure Score dashboard</a:t>
            </a:r>
            <a:br/>
            <a:r>
              <a:t>  * Duo MFA: Cisco Duo Admin Panel → Users → filter enrolled vs. unenrolled</a:t>
            </a:r>
            <a:br/>
            <a:r>
              <a:t>  * EDR Coverage: Guardz Portal / Guardz/SentinelOne Console → Endpoints → managed vs. total known</a:t>
            </a:r>
            <a:br/>
            <a:r>
              <a:t>  * Patch Compliance: RMM (TBD) → Patching → compliance % (OS + critical apps)</a:t>
            </a:r>
            <a:br/>
            <a:r>
              <a:t>  * Avg Tickets/Month: Salesforce → Ticket Reports → total closed ÷ 3 months</a:t>
            </a:r>
            <a:br/>
            <a:r>
              <a:t>  * SLA Compliance: Salesforce → SLA Reports → compliance % for the quarter</a:t>
            </a:r>
            <a:br/>
            <a:r>
              <a:t>- TREND: Compare This Quarter to Last Quarter. ↑ = improved, → = flat (within 2%), ↓ = declined.</a:t>
            </a:r>
            <a:br/>
            <a:br/>
            <a:r>
              <a:t>HOW TO TALK ABOUT IT:</a:t>
            </a:r>
            <a:br/>
            <a:r>
              <a:t>- THIS IS YOUR MOST IMPORTANT SLIDE. Everything else is details — this is the story.</a:t>
            </a:r>
            <a:br/>
            <a:r>
              <a:t>- Start with: "Before we get into the details, here's the big picture — where you started with us, where you were last quarter, and where you are right now."</a:t>
            </a:r>
            <a:br/>
            <a:r>
              <a:t>- If metrics are improving: "Your Secure Score went from [baseline] to [now]. That's [X] points of real risk reduction. That happened because we [specific work]."</a:t>
            </a:r>
            <a:br/>
            <a:r>
              <a:t>- If flat: "Patch compliance held at 97% for three quarters. That's not stagnation — that's operational discipline in a mature environment."</a:t>
            </a:r>
            <a:br/>
            <a:r>
              <a:t>- If declined: "Tickets/month went up. Here's why: [you added 15 users / migration / seasonal]. SLA compliance stayed high — we absorbed the growth."</a:t>
            </a:r>
            <a:br/>
            <a:r>
              <a:t>- CONNECT TO MONEY: "When we started, your Secure Score was 42. Today it's 78. That 36-point improvement directly protects your cyber insurance rates."</a:t>
            </a:r>
            <a:br/>
            <a:r>
              <a:t>- THE VALUE STATEMENT: "This is what the partnership delivers — not just keeping the lights on, but systematically making your IT stronger every quarter."</a:t>
            </a:r>
            <a:br/>
            <a:br/>
            <a:r>
              <a:t>FOR THE PREPARER:</a:t>
            </a:r>
            <a:br/>
            <a:r>
              <a:t>- Keep a running spreadsheet: 6 metrics × client × quarter. Takes 10 minutes to update.</a:t>
            </a:r>
            <a:br/>
            <a:r>
              <a:t>- This is your #1 retention tool. When renewal comes, this slide closes the deal.</a:t>
            </a:r>
            <a:br/>
            <a:r>
              <a:t>- If you're in Q1 with a new client, Baseline and This Quarter are the same — that's fine. The story starts building from Q2.</a:t>
            </a:r>
            <a:br/>
            <a:r>
              <a:t>- NEVER lose the baseline numbers. Screenshot them. Save them. They are irreplaceable.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Salesforce → Ticket reports → Group by month, filter by client, split by Opened vs. Resolved.
- Replace the sample data with your actual monthly numbers before presenting.
HOW TO TALK ABOUT IT:
- The story here is the TREND, not the numbers. "Tickets are trending down — that means the proactive work is paying off. Fewer things are breaking."
- If tickets are going UP, don't panic. Frame it: "We saw an uptick in [month] — here's why: [new users onboarded / migration / seasonal spike]. The important thing is resolution kept pace."
- If resolved &gt; opened, celebrate it: "We're clearing the backlog. Your team is getting faster responses."
- If opened &gt; resolved, be honest: "We had a backlog build in [month]. Here's what caused it and how we've already addressed it."
- NEVER just read the chart. The audience can see the bars. Tell them what the bars MEAN for their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First Response / Resolution times: Salesforce → SLA reports → Average response and resolution by priority.
- System Uptime: RMM (TBD) uptime monitoring, or calculate from downtime incidents. Uptime = (total hours - downtime hours) / total hours × 100.
- Patch Compliance: RMM (TBD) → Patch management → Compliance percentage (filter for OS + critical app patches).
HOW TO TALK ABOUT IT:
- Don't read every row. Scan the table and say: "All green across the board" or "Four of five met, one needs attention."
- For the one that says "Review" — own it immediately: "Patch compliance came in at [X]%, just under our target. Here's why and what we're doing about it."
- Translate SLA metrics into human terms: "When something critical breaks, we're responding in [X] minutes — that's [faster than / right at] our commitment."
- If everything is "Met," don't dwell. One sentence: "We hit every SLA target this quarter. Moving on." Confidence, not a victory lap.
- If a client doesn't seem engaged, ask: "Does this match what your team is experiencing? Are people feeling supported?"
- PRO TIP: If you consistently exceed SLAs by a wide margin, that's a story about VALUE — not just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System Uptime: RMM (TBD) → Monitoring → Uptime reports (average across servers, network devices, critical services).
- Devices Monitored: RMM (TBD) → Devices → Total count by type (servers, workstations, network gear).
- Patch Compliance: RMM (TBD) → Patching → Compliance %. Filter for OS patches + critical application updates.
- Alerts Triggered / Auto-resolved: RMM (TBD) → Alerts → Total alerts for period. Auto-resolved = alerts that cleared without human intervention / total alerts × 100.
HOW TO TALK ABOUT IT:
- "Your infrastructure is [stable/healthy/needs attention]" — one sentence summary, then pause. Let them absorb.
- Uptime: "99.9% uptime means your team lost about [calculate: 0.1% of business hours = ~X minutes] to unplanned downtime this quarter."
- Auto-resolved alerts is your secret weapon: "Our monitoring caught [X] issues before they affected anyone — [Y]% resolved themselves automatically. That's the value of proactive management."
- If patch compliance is low, connect it to risk: "Every unpatched machine is an open door. We need to get this to 95%+ — here's the plan."
- Don't drown them in infrastructure jargon. "Your network is healthy" beats "Your Layer 3 switches are performing within acceptable SNMP thresholds."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Microsoft Secure Score: Microsoft 365 Admin Center → Security → Secure Score (or security.microsoft.com).
- MFA Adoption: Cisco Duo Admin → Users → Enrollment status, or Cisco Duo Admin Panel → Users → MFA enrollment status.
- Endpoint Protection: RMM (TBD) or Guardz portal + Guardz/SentinelOne (when deployed) + Huntress dashboard → Coverage reports.
- Email Security: M365 Security Center → Threat management → confirm ATP/Safe Links/Safe Attachments active.
- Backup Status: RMM (TBD) Backup → Last successful backup date + last DR test date.
HOW TO TALK ABOUT IT:
- Security is where you earn trust AND plant seeds for upsell — but don't be sleazy about it.
- Start with the good news: "Duo MFA enrollment is at [X]% — that alone blocks over 99% of credential attacks via Duo. Duo makes this painless — nice work getting your team onboard."
- Frame gaps as risk, not failure: "Your Secure Score is [X] — the industry average for your size is [Y]. The gap isn't alarming, but closing it reduces your attack surface significantly."
- Recommendations should feel like advice from a friend, not a sales pitch: "If I were in your shoes, the first thing I'd do is [top recommendation]. It's the highest-impact, lowest-effort move."
- Backup is the closer: "Everything is backed up and we tested recovery on [date]. If something catastrophic happens, we can get you back up in [X hours]." That's the line that makes them sleep at night.
- If Duo enrollment isn't at 100%, be direct: "Every account without Duo MFA is a risk. Pull the Duo enrollment report — who are the holdouts and how can we help get them enrolled in Duo?"
- NEVER use scare tactics. State facts, explain consequences, recommend action. Let them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Project completions: Salesforce → Projects → Completed this quarter. Or your internal project tracker.
- Infrastructure changes: RMM (TBD) change log, or your team's notes from migrations/upgrades.
- Security improvements: Compare Secure Score from last QBR to now. Pull any vulnerability remediation stats.
- Cost savings: License audits, vendor renegotiations, hardware avoided by extending lifecycle.
- Training: User training completion rates, phishing simulation results improvement.
HOW TO TALK ABOUT IT:
- This is your VALUE slide. Don't be modest. You did good work — show it.
- Frame every accomplishment in business terms, not tech terms:
  BAD: "We migrated the file server to SharePoint Online."
  GOOD: "Your team can now access files from anywhere without VPN. That project is done and working."
- Quantify everything possible: "We saved you $[X] by right-sizing licenses" or "Security score went from [X] to [Y]."
- Limit to 4-6 items. More than that and nothing stands out.
- If the client helped (approved a project, got their team to adopt MFA), give them credit: "This wouldn't have happened without [name]'s team making time for it."
- This slide should make the client think "I'm glad I'm paying these people."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Open/recurring tickets: Salesforce → Tickets → Open or recurring issues, sorted by priority.
- Known risks: Your vCIO/TAM notes, previous QBR action items that haven't been resolved.
- Infrastructure risks: RMM (TBD) → Aging hardware, warranty expirations, EOL software.
- Security risks: Vulnerability scans, Secure Score recommendations, compliance gaps.
HOW TO TALK ABOUT IT:
- Don't sugarcoat risks, but don't catastrophize either. Be matter-of-fact.
- For each risk, always pair the problem with what you're doing about it: "We have [issue]. Here's what we've done so far, and here's what we recommend next."
- Color-coding does the heavy lifting. If they see red/orange, they'll pay attention. You don't need to yell.
- Ask for input: "Is this consistent with what your team is seeing?" They might know something you don't.
- For HIGH items, be clear about consequences: "If this server fails, your [application] goes down and [X people] can't work until we recover it. That's why we're recommending [fix] this quarter."
- For LOW items, briefly acknowledge and move on: "We're watching this, no action needed right now."
- PRO TIP: If you have zero open issues, that's the slide — "No open risks. Let's keep it that way." Don't manufacture drama.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Previous QBR roadmap: Pull forward unfinished items and update status.
- New recommendations: From your vCIO assessment, security findings, client requests, and technology lifecycle data.
- Investment estimates: Use your standard rates ($185/hr standard, $225/hr senior) and vendor quotes for hardware/licensing.
- Business drivers: Tie each initiative to something the client cares about — compliance, productivity, cost, risk reduction.
HOW TO TALK ABOUT IT:
- Use dollar signs ($$, $$$) instead of exact numbers unless the client specifically asks. It keeps the conversation strategic, not transactional.
- Walk through the HIGH items in detail, MEDIUM items briefly, LOW items as "on our radar."
- For each initiative, answer: "Why should you care?" in one sentence.
  BAD: "We recommend upgrading your firewall firmware."
  GOOD: "Your firewall is two versions behind. Updating it closes several known security holes and keeps you compliant with your cyber insurance requirements."
- If budget is tight, acknowledge it: "We don't need to do everything at once. If we can only pick two this quarter, I'd recommend [X] and [Y] because [reason]."
- This is where you're acting as their CTO. Speak with conviction but invite collaboration: "This is what I'd recommend — what does your timeline look like?"
- NEVER ambush them with big numbers on this slide. If something is expensive, they should already know from previous conversations.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Upcoming Renewals: Your contract/license tracking spreadsheet or Salesforce. Also check M365 Admin → Billing → Subscriptions for renewal dates.
- Managed services cost: Your billing system or Salesforce → Contracts → Monthly recurring revenue for this client.
- Projected project spend: Roadmap initiatives × estimated hours × rate. Vendor quotes for hardware.
- Licensing optimization: M365 Admin → Usage reports → identify unused/underused licenses. Compare assigned vs. consumed.
HOW TO TALK ABOUT IT:
- Lead with savings, not costs: "Before we talk about what's coming up, here's where we found money: [optimization opportunity]."
- Renewals should feel like a service, not a bill: "These are coming up — we want to make sure nothing lapses and you're getting the best deal."
- If you spot licensing waste, be specific: "You have [X] E5 licenses assigned to users who only need E3. Swapping those saves $[X]/year."
- For budget considerations, be consultative: "If you're planning your IT budget for next quarter, here's what I'd plan for."
- If the client looks uncomfortable about numbers, simplify: "Your IT spend is [reasonable/below average/above average] for a company your size. Here's where I see the best ROI."
- NEVER surprise a client with a big renewal they didn't know about. If something expensive is coming, flag it a month early via email — QBR is for confirmation, not shock.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This slide is built DURING the meeting. Come with 2-3 pre-loaded items from your findings, then add what comes up in discussion.
- Carry forward any incomplete items from the last QBR action list.
- Assign real names, not roles. "John" is accountable. "IT Director" is nobody.
HOW TO TALK ABOUT IT:
- Read each item, confirm the owner, and agree on the date. Out loud. In the room.
- "Before we wrap, let me make sure we're all on the same page about what happens next."
- For each item: "[Owner], you're good with [action] by [date]?" Get a verbal yes.
- If something doesn't have a clear owner, ask: "Who on your side should own this?"
- Include YOUR action items too — this isn't a list of things for the client to do. Show partnership.
- End with: "I'll send this list to everyone by end of day. We'll check in on the high-priority items in [2 weeks / 30 days]."
- PRO TIP: This slide is the one that separates a real QBR from a dog-and-pony show. If action items don't get followed up on, the whole QBR is theater.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WHERE TO GET THE DATA: Same as Enterprise version — Salesforce for tickets/projects, Guardz + Guardz/SentinelOne + Huntress for security, RMM (TBD) for uptime. Key wins from your quarterly QBR accomplishments slides — pick the 4 biggest.</a:t>
            </a:r>
            <a:br/>
            <a:r>
              <a:t>HOW TO TALK ABOUT IT: Keep it simple for SMB. "Here's what we did for you this year, in 4 numbers and 4 wins." Don't over-explain. Let the numbers speak.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WHERE TO GET THE DATA: Same sources as Enterprise version, just simpler presentation.</a:t>
            </a:r>
            <a:br/>
            <a:r>
              <a:t>HOW TO TALK ABOUT IT: For SMB, lead with the two things they care about most: "Are we safe?" (security) and "Are we saving money?" (cost). Hit those two hard, then briefly mention efficiency and growth. Keep it under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TALK ABOUT IT:
- Don't rush the close. This is where deals happen, feedback surfaces, and relationships deepen.
- "That's everything I had — what questions do you have?"
- Wait. Actually wait. Count to 5 in your head. Silence is where the good stuff comes from.
- If they ask about something you covered, don't say "we already went over that." Just answer it again.
- Before you leave, ask these two questions:
  1. "Is there anything about our service that could be better?"
  2. "What's keeping you up at night that we haven't talked about?"
- Thank them for their time genuinely. These meetings are how you keep clients for 10 years.
- Follow up within 24 hours: action items list, this deck as a PDF, and a short "thanks for your time"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4000" y="100000"/>
            <a:ext cx="420000" cy="35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00000"/>
            <a:ext cx="7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D52"/>
                </a:solidFill>
                <a:latin typeface="Open Sans"/>
              </a:defRPr>
            </a:pPr>
            <a:r>
              <a:t>HOW TO USE THIS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20000"/>
            <a:ext cx="109728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80000"/>
            <a:ext cx="7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77"/>
                </a:solidFill>
                <a:latin typeface="Open Sans"/>
              </a:defRPr>
            </a:pPr>
            <a:r>
              <a:t>A prep guide for the Annual Business Review (ABR) presenter  —  Hide this slide before presenting.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0000" y="830000"/>
            <a:ext cx="4100000" cy="3100000"/>
          </a:xfrm>
          <a:prstGeom prst="roundRect">
            <a:avLst/>
          </a:prstGeom>
          <a:solidFill>
            <a:srgbClr val="F5F4F8"/>
          </a:solidFill>
          <a:ln w="9525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0000" y="830000"/>
            <a:ext cx="4100000" cy="3657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870000"/>
            <a:ext cx="39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7C8DBF"/>
                </a:solidFill>
                <a:latin typeface="Open Sans"/>
              </a:defRPr>
            </a:pPr>
            <a:r>
              <a:t>BEFORE THE MEETING</a:t>
            </a:r>
          </a:p>
          <a:p>
            <a:pPr>
              <a:spcAft>
                <a:spcPts val="400"/>
              </a:spcAft>
              <a:defRPr sz="400" b="0">
                <a:solidFill>
                  <a:srgbClr val="666677"/>
                </a:solidFill>
                <a:latin typeface="Open Sans"/>
              </a:defRPr>
            </a:pP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1.  Save As with client name + date</a:t>
            </a:r>
          </a:p>
          <a:p>
            <a:pPr>
              <a:spcAft>
                <a:spcPts val="400"/>
              </a:spcAft>
              <a:defRPr sz="700" b="0">
                <a:solidFill>
                  <a:srgbClr val="666677"/>
                </a:solidFill>
                <a:latin typeface="Open Sans"/>
              </a:defRPr>
            </a:pPr>
            <a:r>
              <a:t>     e.g., CVG-QBR-Acme-Q2-2026.pptx</a:t>
            </a:r>
          </a:p>
          <a:p>
            <a:pPr>
              <a:spcAft>
                <a:spcPts val="400"/>
              </a:spcAft>
              <a:defRPr sz="300" b="0">
                <a:solidFill>
                  <a:srgbClr val="666677"/>
                </a:solidFill>
                <a:latin typeface="Open Sans"/>
              </a:defRPr>
            </a:pP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2.  Fill in every ___ placeholder. Sources on each slide.</a:t>
            </a:r>
          </a:p>
          <a:p>
            <a:pPr>
              <a:spcAft>
                <a:spcPts val="400"/>
              </a:spcAft>
              <a:defRPr sz="700" b="0">
                <a:solidFill>
                  <a:srgbClr val="666677"/>
                </a:solidFill>
                <a:latin typeface="Open Sans"/>
              </a:defRPr>
            </a:pPr>
            <a:r>
              <a:t>     Click the blank, type the number. That's it.</a:t>
            </a:r>
          </a:p>
          <a:p>
            <a:pPr>
              <a:spcAft>
                <a:spcPts val="400"/>
              </a:spcAft>
              <a:defRPr sz="300" b="0">
                <a:solidFill>
                  <a:srgbClr val="666677"/>
                </a:solidFill>
                <a:latin typeface="Open Sans"/>
              </a:defRPr>
            </a:pP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3.  Update the Journey slide (most important!):</a:t>
            </a:r>
          </a:p>
          <a:p>
            <a:pPr>
              <a:spcAft>
                <a:spcPts val="400"/>
              </a:spcAft>
              <a:defRPr sz="750" b="0">
                <a:solidFill>
                  <a:srgbClr val="333333"/>
                </a:solidFill>
                <a:latin typeface="Open Sans"/>
              </a:defRPr>
            </a:pPr>
            <a:r>
              <a:t>     •  Baseline = onboarding data (never changes)</a:t>
            </a:r>
          </a:p>
          <a:p>
            <a:pPr>
              <a:spcAft>
                <a:spcPts val="400"/>
              </a:spcAft>
              <a:defRPr sz="750" b="0">
                <a:solidFill>
                  <a:srgbClr val="333333"/>
                </a:solidFill>
                <a:latin typeface="Open Sans"/>
              </a:defRPr>
            </a:pPr>
            <a:r>
              <a:t>     •  Last Quarter = copy from prior QBR deck</a:t>
            </a:r>
          </a:p>
          <a:p>
            <a:pPr>
              <a:spcAft>
                <a:spcPts val="400"/>
              </a:spcAft>
              <a:defRPr sz="750" b="0">
                <a:solidFill>
                  <a:srgbClr val="333333"/>
                </a:solidFill>
                <a:latin typeface="Open Sans"/>
              </a:defRPr>
            </a:pPr>
            <a:r>
              <a:t>     •  This Quarter = pull fresh from each tool</a:t>
            </a:r>
          </a:p>
          <a:p>
            <a:pPr>
              <a:spcAft>
                <a:spcPts val="400"/>
              </a:spcAft>
              <a:defRPr sz="750" b="0">
                <a:solidFill>
                  <a:srgbClr val="333333"/>
                </a:solidFill>
                <a:latin typeface="Open Sans"/>
              </a:defRPr>
            </a:pPr>
            <a:r>
              <a:t>     •  Trend: ↑ improved  → flat  ↓ declined</a:t>
            </a:r>
          </a:p>
          <a:p>
            <a:pPr>
              <a:spcAft>
                <a:spcPts val="400"/>
              </a:spcAft>
              <a:defRPr sz="300" b="0">
                <a:solidFill>
                  <a:srgbClr val="666677"/>
                </a:solidFill>
                <a:latin typeface="Open Sans"/>
              </a:defRPr>
            </a:pP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4.  Read speaker notes (View &gt; Notes) for talk tracks.</a:t>
            </a:r>
          </a:p>
          <a:p>
            <a:pPr>
              <a:spcAft>
                <a:spcPts val="400"/>
              </a:spcAft>
              <a:defRPr sz="300" b="0">
                <a:solidFill>
                  <a:srgbClr val="666677"/>
                </a:solidFill>
                <a:latin typeface="Open Sans"/>
              </a:defRPr>
            </a:pP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5.  Delete/hide slides that don't apply to this client.</a:t>
            </a:r>
          </a:p>
          <a:p>
            <a:pPr>
              <a:spcAft>
                <a:spcPts val="400"/>
              </a:spcAft>
              <a:defRPr sz="300" b="0">
                <a:solidFill>
                  <a:srgbClr val="666677"/>
                </a:solidFill>
                <a:latin typeface="Open Sans"/>
              </a:defRPr>
            </a:pPr>
          </a:p>
          <a:p>
            <a:pPr>
              <a:spcAft>
                <a:spcPts val="400"/>
              </a:spcAft>
              <a:defRPr sz="800" b="1">
                <a:solidFill>
                  <a:srgbClr val="6B4C7A"/>
                </a:solidFill>
                <a:latin typeface="Open Sans"/>
              </a:defRPr>
            </a:pPr>
            <a:r>
              <a:t>6.  Hide THIS slide before presenting.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50000" y="830000"/>
            <a:ext cx="4100000" cy="1600000"/>
          </a:xfrm>
          <a:prstGeom prst="roundRect">
            <a:avLst/>
          </a:prstGeom>
          <a:solidFill>
            <a:srgbClr val="F5F4F8"/>
          </a:solidFill>
          <a:ln w="9525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50000" y="830000"/>
            <a:ext cx="4100000" cy="3657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0000" y="870000"/>
            <a:ext cx="39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557"/>
                </a:solidFill>
                <a:latin typeface="Open Sans"/>
              </a:defRPr>
            </a:pPr>
            <a:r>
              <a:t>DURING THE MEETING</a:t>
            </a:r>
          </a:p>
          <a:p>
            <a:pPr>
              <a:spcAft>
                <a:spcPts val="400"/>
              </a:spcAft>
              <a:defRPr sz="400" b="0">
                <a:solidFill>
                  <a:srgbClr val="666677"/>
                </a:solidFill>
                <a:latin typeface="Open Sans"/>
              </a:defRPr>
            </a:pP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Don't read slides. Tell the story.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Improving metric = celebrate briefly, move on.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Declining metric = own it, show the plan.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Ask: "Does this match what your team sees?"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Action Items: fill in LIVE during meeting.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End: "What questions do you have?" Then WAIT.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50000" y="2530000"/>
            <a:ext cx="4100000" cy="1400000"/>
          </a:xfrm>
          <a:prstGeom prst="roundRect">
            <a:avLst/>
          </a:prstGeom>
          <a:solidFill>
            <a:srgbClr val="F5F4F8"/>
          </a:solidFill>
          <a:ln w="9525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50000" y="2530000"/>
            <a:ext cx="4100000" cy="36576"/>
          </a:xfrm>
          <a:prstGeom prst="rect">
            <a:avLst/>
          </a:prstGeom>
          <a:solidFill>
            <a:srgbClr val="6B4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0000" y="2570000"/>
            <a:ext cx="39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6B4C7A"/>
                </a:solidFill>
                <a:latin typeface="Open Sans"/>
              </a:defRPr>
            </a:pPr>
            <a:r>
              <a:t>AFTER THE MEETING</a:t>
            </a:r>
          </a:p>
          <a:p>
            <a:pPr>
              <a:spcAft>
                <a:spcPts val="400"/>
              </a:spcAft>
              <a:defRPr sz="400" b="0">
                <a:solidFill>
                  <a:srgbClr val="666677"/>
                </a:solidFill>
                <a:latin typeface="Open Sans"/>
              </a:defRPr>
            </a:pP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Send deck as PDF + action items within 24 hrs.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Save deck in client folder (next Q's source).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Update tracking spreadsheet with this Q's metrics.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Calendar the next QBR now.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Follow up on high-priority items in 2 weeks.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000" y="4000000"/>
            <a:ext cx="8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t>QUICK REFERENCE:  RMM (TBD) = endpoints, patching, alerts, uptime  |  Salesforce = tickets, SLA, projects, contracts  |  Guardz = unified security, EDR (+ SentinelOne when needed)  |  Huntress = ITDR, identity threats  |  Cisco Duo = MFA enrollment  |  M365 Security Center = Secure Score  |  Atakama = browser security, DNS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0000" y="4300000"/>
            <a:ext cx="3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E2D52"/>
                </a:solidFill>
                <a:latin typeface="Open Sans"/>
              </a:defRPr>
            </a:pPr>
            <a:r>
              <a:t>Yours truly, Uncle Ben.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5000000" y="-1200000"/>
            <a:ext cx="6000000" cy="6000000"/>
          </a:xfrm>
          <a:prstGeom prst="ellipse">
            <a:avLst/>
          </a:prstGeom>
          <a:solidFill>
            <a:srgbClr val="242B4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300000" y="100000"/>
            <a:ext cx="3400000" cy="3400000"/>
          </a:xfrm>
          <a:prstGeom prst="ellipse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00000" y="400000"/>
            <a:ext cx="3900000" cy="6858"/>
          </a:xfrm>
          <a:prstGeom prst="rect">
            <a:avLst/>
          </a:prstGeom>
          <a:solidFill>
            <a:srgbClr val="242B4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00000" y="1300000"/>
            <a:ext cx="3900000" cy="6858"/>
          </a:xfrm>
          <a:prstGeom prst="rect">
            <a:avLst/>
          </a:prstGeom>
          <a:solidFill>
            <a:srgbClr val="242B4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00000" y="2200000"/>
            <a:ext cx="3900000" cy="6858"/>
          </a:xfrm>
          <a:prstGeom prst="rect">
            <a:avLst/>
          </a:prstGeom>
          <a:solidFill>
            <a:srgbClr val="242B4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200000" y="3100000"/>
            <a:ext cx="3900000" cy="6858"/>
          </a:xfrm>
          <a:prstGeom prst="rect">
            <a:avLst/>
          </a:prstGeom>
          <a:solidFill>
            <a:srgbClr val="242B4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00000" y="4000000"/>
            <a:ext cx="3900000" cy="6858"/>
          </a:xfrm>
          <a:prstGeom prst="rect">
            <a:avLst/>
          </a:prstGeom>
          <a:solidFill>
            <a:srgbClr val="242B4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00000" y="200000"/>
            <a:ext cx="6858" cy="4500000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000" y="200000"/>
            <a:ext cx="6858" cy="4500000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0000" y="200000"/>
            <a:ext cx="6858" cy="4500000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00000" y="200000"/>
            <a:ext cx="6858" cy="4500000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" y="0"/>
            <a:ext cx="18288" cy="5143500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400000" y="1300000"/>
            <a:ext cx="54864" cy="54864"/>
          </a:xfrm>
          <a:prstGeom prst="ellipse">
            <a:avLst/>
          </a:prstGeom>
          <a:solidFill>
            <a:srgbClr val="D4A5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0000" y="2200000"/>
            <a:ext cx="54864" cy="54864"/>
          </a:xfrm>
          <a:prstGeom prst="ellipse">
            <a:avLst/>
          </a:prstGeom>
          <a:solidFill>
            <a:srgbClr val="D4A5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400000" y="400000"/>
            <a:ext cx="54864" cy="54864"/>
          </a:xfrm>
          <a:prstGeom prst="ellipse">
            <a:avLst/>
          </a:prstGeom>
          <a:solidFill>
            <a:srgbClr val="D4A5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00000" y="3100000"/>
            <a:ext cx="54864" cy="54864"/>
          </a:xfrm>
          <a:prstGeom prst="ellipse">
            <a:avLst/>
          </a:prstGeom>
          <a:solidFill>
            <a:srgbClr val="D4A5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400000" y="3100000"/>
            <a:ext cx="54864" cy="54864"/>
          </a:xfrm>
          <a:prstGeom prst="ellipse">
            <a:avLst/>
          </a:prstGeom>
          <a:solidFill>
            <a:srgbClr val="D4A5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0000" y="4100000"/>
            <a:ext cx="45720" cy="45720"/>
          </a:xfrm>
          <a:prstGeom prst="rect">
            <a:avLst/>
          </a:prstGeom>
          <a:solidFill>
            <a:srgbClr val="7C8DB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0000" y="4100000"/>
            <a:ext cx="45720" cy="45720"/>
          </a:xfrm>
          <a:prstGeom prst="rect">
            <a:avLst/>
          </a:prstGeom>
          <a:solidFill>
            <a:srgbClr val="7C8DB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0000" y="4200000"/>
            <a:ext cx="45720" cy="45720"/>
          </a:xfrm>
          <a:prstGeom prst="rect">
            <a:avLst/>
          </a:prstGeom>
          <a:solidFill>
            <a:srgbClr val="7C8DB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00000" y="4100000"/>
            <a:ext cx="45720" cy="45720"/>
          </a:xfrm>
          <a:prstGeom prst="rect">
            <a:avLst/>
          </a:prstGeom>
          <a:solidFill>
            <a:srgbClr val="7C8DB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00000" y="4200000"/>
            <a:ext cx="45720" cy="45720"/>
          </a:xfrm>
          <a:prstGeom prst="rect">
            <a:avLst/>
          </a:prstGeom>
          <a:solidFill>
            <a:srgbClr val="7C8DB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Quarterly Business Review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A5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[Quarter] [Year]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 for [Client Name]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pic>
        <p:nvPicPr>
          <p:cNvPr id="36" name="Picture 35" descr="cavaridge-logo-white-2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0040"/>
            <a:ext cx="480000" cy="4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8100000" y="400000"/>
            <a:ext cx="900000" cy="4200000"/>
          </a:xfrm>
          <a:prstGeom prst="roundRect">
            <a:avLst/>
          </a:prstGeom>
          <a:solidFill>
            <a:srgbClr val="181D34">
              <a:alpha val="35000"/>
            </a:srgbClr>
          </a:solidFill>
          <a:ln w="9525">
            <a:solidFill>
              <a:srgbClr val="2E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500000" y="600000"/>
            <a:ext cx="36576" cy="36576"/>
          </a:xfrm>
          <a:prstGeom prst="ellipse">
            <a:avLst/>
          </a:prstGeom>
          <a:solidFill>
            <a:srgbClr val="7C8D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16000" y="636576"/>
            <a:ext cx="4572" cy="413424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0000" y="1050000"/>
            <a:ext cx="36576" cy="36576"/>
          </a:xfrm>
          <a:prstGeom prst="ellipse">
            <a:avLst/>
          </a:prstGeom>
          <a:solidFill>
            <a:srgbClr val="7C8D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16000" y="1086576"/>
            <a:ext cx="4572" cy="413424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00000" y="1500000"/>
            <a:ext cx="36576" cy="36576"/>
          </a:xfrm>
          <a:prstGeom prst="ellipse">
            <a:avLst/>
          </a:prstGeom>
          <a:solidFill>
            <a:srgbClr val="7C8D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16000" y="1536576"/>
            <a:ext cx="4572" cy="413424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00000" y="1950000"/>
            <a:ext cx="36576" cy="36576"/>
          </a:xfrm>
          <a:prstGeom prst="ellipse">
            <a:avLst/>
          </a:prstGeom>
          <a:solidFill>
            <a:srgbClr val="7C8D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16000" y="1986576"/>
            <a:ext cx="4572" cy="413424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00000" y="2400000"/>
            <a:ext cx="36576" cy="36576"/>
          </a:xfrm>
          <a:prstGeom prst="ellipse">
            <a:avLst/>
          </a:prstGeom>
          <a:solidFill>
            <a:srgbClr val="7C8D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16000" y="2436576"/>
            <a:ext cx="4572" cy="413424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00000" y="2850000"/>
            <a:ext cx="36576" cy="36576"/>
          </a:xfrm>
          <a:prstGeom prst="ellipse">
            <a:avLst/>
          </a:prstGeom>
          <a:solidFill>
            <a:srgbClr val="7C8D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16000" y="2886576"/>
            <a:ext cx="4572" cy="413424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00000" y="3300000"/>
            <a:ext cx="36576" cy="36576"/>
          </a:xfrm>
          <a:prstGeom prst="ellipse">
            <a:avLst/>
          </a:prstGeom>
          <a:solidFill>
            <a:srgbClr val="7C8D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16000" y="3336576"/>
            <a:ext cx="4572" cy="413424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00000" y="3750000"/>
            <a:ext cx="36576" cy="36576"/>
          </a:xfrm>
          <a:prstGeom prst="ellipse">
            <a:avLst/>
          </a:prstGeom>
          <a:solidFill>
            <a:srgbClr val="7C8D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16000" y="3786576"/>
            <a:ext cx="4572" cy="413424"/>
          </a:xfrm>
          <a:prstGeom prst="rect">
            <a:avLst/>
          </a:prstGeom>
          <a:solidFill>
            <a:srgbClr val="242B4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500000" y="4200000"/>
            <a:ext cx="36576" cy="36576"/>
          </a:xfrm>
          <a:prstGeom prst="ellipse">
            <a:avLst/>
          </a:prstGeom>
          <a:solidFill>
            <a:srgbClr val="7C8D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00" y="1300000"/>
            <a:ext cx="27432" cy="3200000"/>
          </a:xfrm>
          <a:prstGeom prst="rect">
            <a:avLst/>
          </a:prstGeom>
          <a:solidFill>
            <a:srgbClr val="D4A55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44000" y="0"/>
            <a:ext cx="50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4A5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  </a:t>
            </a:r>
            <a:r>
              <a:rPr lang="en-US" sz="1600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 Summary &amp; Relationship Overview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4A5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  </a:t>
            </a:r>
            <a:r>
              <a:rPr lang="en-US" sz="1600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 Delivery Performance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4A5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  </a:t>
            </a:r>
            <a:r>
              <a:rPr lang="en-US" sz="1600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Infrastructure Health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4A5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  </a:t>
            </a:r>
            <a:r>
              <a:rPr lang="en-US" sz="1600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Posture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4A5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  </a:t>
            </a:r>
            <a:r>
              <a:rPr lang="en-US" sz="1600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Accomplishments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4A5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  </a:t>
            </a:r>
            <a:r>
              <a:rPr lang="en-US" sz="1600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Issues &amp; Risks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4A5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07  </a:t>
            </a:r>
            <a:r>
              <a:rPr lang="en-US" sz="1600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Recommendations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4A5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08  </a:t>
            </a:r>
            <a:r>
              <a:rPr lang="en-US" sz="1600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&amp; Upcoming Renewals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4A5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09  </a:t>
            </a:r>
            <a:r>
              <a:rPr lang="en-US" sz="1600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 Items &amp; Next Steps</a:t>
            </a:r>
            <a:endParaRPr lang="en-US" sz="1600" dirty="0"/>
          </a:p>
        </p:txBody>
      </p:sp>
      <p:sp>
        <p:nvSpPr>
          <p:cNvPr id="26" name="Rectangle 2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E577F783-D8C4-4E52-9A28-371FC627C83A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32" name="Picture 3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200000" y="1800000"/>
            <a:ext cx="8700000" cy="4572"/>
          </a:xfrm>
          <a:prstGeom prst="rect">
            <a:avLst/>
          </a:prstGeom>
          <a:solidFill>
            <a:srgbClr val="242B4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00000" y="2900000"/>
            <a:ext cx="8700000" cy="4572"/>
          </a:xfrm>
          <a:prstGeom prst="rect">
            <a:avLst/>
          </a:prstGeom>
          <a:solidFill>
            <a:srgbClr val="242B4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00000" y="4000000"/>
            <a:ext cx="8700000" cy="4572"/>
          </a:xfrm>
          <a:prstGeom prst="rect">
            <a:avLst/>
          </a:prstGeom>
          <a:solidFill>
            <a:srgbClr val="242B4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50000" y="1200000"/>
            <a:ext cx="4572" cy="3200000"/>
          </a:xfrm>
          <a:prstGeom prst="rect">
            <a:avLst/>
          </a:prstGeom>
          <a:solidFill>
            <a:srgbClr val="242B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50000" y="1200000"/>
            <a:ext cx="4572" cy="3200000"/>
          </a:xfrm>
          <a:prstGeom prst="rect">
            <a:avLst/>
          </a:prstGeom>
          <a:solidFill>
            <a:srgbClr val="242B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250000" y="1200000"/>
            <a:ext cx="4572" cy="3200000"/>
          </a:xfrm>
          <a:prstGeom prst="rect">
            <a:avLst/>
          </a:prstGeom>
          <a:solidFill>
            <a:srgbClr val="242B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50000" y="1200000"/>
            <a:ext cx="4572" cy="3200000"/>
          </a:xfrm>
          <a:prstGeom prst="rect">
            <a:avLst/>
          </a:prstGeom>
          <a:solidFill>
            <a:srgbClr val="242B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850000" y="1200000"/>
            <a:ext cx="4572" cy="3200000"/>
          </a:xfrm>
          <a:prstGeom prst="rect">
            <a:avLst/>
          </a:prstGeom>
          <a:solidFill>
            <a:srgbClr val="242B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" y="1262000"/>
            <a:ext cx="1714500" cy="18288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520" y="2990000"/>
            <a:ext cx="1714500" cy="13716"/>
          </a:xfrm>
          <a:prstGeom prst="rect">
            <a:avLst/>
          </a:prstGeom>
          <a:solidFill>
            <a:srgbClr val="7C8DB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20340" y="1262000"/>
            <a:ext cx="1714500" cy="18288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20340" y="2990000"/>
            <a:ext cx="1714500" cy="13716"/>
          </a:xfrm>
          <a:prstGeom prst="rect">
            <a:avLst/>
          </a:prstGeom>
          <a:solidFill>
            <a:srgbClr val="D4A55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09160" y="1262000"/>
            <a:ext cx="1714500" cy="18288"/>
          </a:xfrm>
          <a:prstGeom prst="rect">
            <a:avLst/>
          </a:prstGeom>
          <a:solidFill>
            <a:srgbClr val="6B4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09160" y="2990000"/>
            <a:ext cx="1714500" cy="13716"/>
          </a:xfrm>
          <a:prstGeom prst="rect">
            <a:avLst/>
          </a:prstGeom>
          <a:solidFill>
            <a:srgbClr val="6B4C7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697980" y="1262000"/>
            <a:ext cx="1714500" cy="18288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697980" y="2990000"/>
            <a:ext cx="1714500" cy="13716"/>
          </a:xfrm>
          <a:prstGeom prst="rect">
            <a:avLst/>
          </a:prstGeom>
          <a:solidFill>
            <a:srgbClr val="7C8DB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744000" y="0"/>
            <a:ext cx="40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16568" y="0"/>
            <a:ext cx="27432" cy="4000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4864" cy="1737360"/>
          </a:xfrm>
          <a:prstGeom prst="rect">
            <a:avLst/>
          </a:prstGeom>
          <a:solidFill>
            <a:srgbClr val="7C8D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012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Endpoints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RMM (TBD) &gt; Devices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2034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720340" y="1280160"/>
            <a:ext cx="54864" cy="1737360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94894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94894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SLA Compliance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4894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Salesforce &gt; SLA Reports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09160" y="1280160"/>
            <a:ext cx="54864" cy="1737360"/>
          </a:xfrm>
          <a:prstGeom prst="rect">
            <a:avLst/>
          </a:prstGeom>
          <a:solidFill>
            <a:srgbClr val="6B4C7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93776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93776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Tickets Resolved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Salesforce &gt; Ticket Reports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9798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697980" y="1280160"/>
            <a:ext cx="54864" cy="1737360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92658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92658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 Satisfaction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2658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Salesforce &gt; Survey Results</a:t>
            </a:r>
            <a:endParaRPr lang="en-US" sz="900" dirty="0"/>
          </a:p>
        </p:txBody>
      </p:sp>
      <p:sp>
        <p:nvSpPr>
          <p:cNvPr id="44" name="Rectangle 4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91C94702-4342-4D99-B251-CD26D0EDD54A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50" name="Picture 49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3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8DBF"/>
                </a:solidFill>
                <a:latin typeface="Open Sans"/>
              </a:defRPr>
            </a:pPr>
            <a:r>
              <a:rPr>
                <a:solidFill/>
              </a:rPr>
              <a:t>YOUR IT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0000"/>
            <a:ext cx="109728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750000"/>
            <a:ext cx="7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Where you started  →  Where you are  →  Where you’re going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50000" y="1080000"/>
            <a:ext cx="2200000" cy="320000"/>
          </a:xfrm>
          <a:prstGeom prst="round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50000" y="1090000"/>
            <a:ext cx="2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rPr>
                <a:solidFill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0000" y="1250000"/>
            <a:ext cx="22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CCCCDD"/>
                </a:solidFill>
                <a:latin typeface="Open Sans"/>
              </a:defRPr>
            </a:pPr>
            <a:r>
              <a:rPr>
                <a:solidFill/>
              </a:rPr>
              <a:t>(Onboarding)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0000" y="1080000"/>
            <a:ext cx="2200000" cy="320000"/>
          </a:xfrm>
          <a:prstGeom prst="roundRect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30000" y="1090000"/>
            <a:ext cx="2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rPr>
                <a:solidFill/>
              </a:rPr>
              <a:t>LAST QUARTER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0000" y="1250000"/>
            <a:ext cx="22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CCCCDD"/>
                </a:solidFill>
                <a:latin typeface="Open Sans"/>
              </a:defRPr>
            </a:pPr>
            <a:r>
              <a:rPr>
                <a:solidFill/>
              </a:rPr>
              <a:t>(Prior QBR)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10000" y="1080000"/>
            <a:ext cx="2200000" cy="320000"/>
          </a:xfrm>
          <a:prstGeom prst="round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10000" y="1090000"/>
            <a:ext cx="2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rPr>
                <a:solidFill/>
              </a:rPr>
              <a:t>THIS QUARTER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0000" y="1250000"/>
            <a:ext cx="22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CCCCDD"/>
                </a:solidFill>
                <a:latin typeface="Open Sans"/>
              </a:defRPr>
            </a:pPr>
            <a:r>
              <a:rPr>
                <a:solidFill/>
              </a:rPr>
              <a:t>(Current)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0000" y="1500000"/>
            <a:ext cx="8600000" cy="32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0000" y="153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Secure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000" y="168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M365 Security Center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0000" y="15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8DBF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0000" y="15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0000" y="15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55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000" y="185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Duo MFA Enrollment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000" y="200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Cisco Duo Admin &gt;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0000" y="188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8DBF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0000" y="188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0000" y="188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55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0000" y="2140000"/>
            <a:ext cx="8600000" cy="32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0000" y="217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EDR Coverage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000" y="232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Guardz / SentinelOne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0000" y="220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8DBF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0000" y="220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0000" y="220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55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000" y="249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Patch Compliance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0000" y="264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RMM (TBD) &gt; Patching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0000" y="252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8DBF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0000" y="252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10000" y="252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55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0000" y="2780000"/>
            <a:ext cx="8600000" cy="32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0000" y="281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Avg Tickets/Month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000" y="296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Salesforce &gt; Reports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50000" y="284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8DBF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0000" y="284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10000" y="284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55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0000" y="313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SLA Compliance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0000" y="328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Salesforce &gt; SLA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0000" y="31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8DBF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0000" y="31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10000" y="31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557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90000" y="112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TREND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90000" y="156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↑ / → / 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90000" y="188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↑ / → / 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90000" y="220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↑ / → / 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90000" y="252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↑ / → / 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90000" y="284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↑ / → / 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90000" y="316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↑ / → / 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3500000"/>
            <a:ext cx="7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PREP: Fill baseline from onboarding docs (these never change). Copy last quarter from prior QBR deck. Pull this quarter fresh from each tool. PRESENT: Tell the story — improving = proving value, flat = stable (still a win), declining = own it + show the fix.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00000" y="488346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A607A"/>
                </a:solidFill>
                <a:latin typeface="Open Sans"/>
              </a:defRPr>
            </a:p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F07B46AD-79B7-4C11-AA19-CF20FDC70589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sp>
        <p:nvSpPr>
          <p:cNvPr id="62" name="Rectangle 61"/>
          <p:cNvSpPr/>
          <p:nvPr/>
        </p:nvSpPr>
        <p:spPr>
          <a:xfrm>
            <a:off x="8544000" y="0"/>
            <a:ext cx="60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116568" y="0"/>
            <a:ext cx="27432" cy="3000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5" name="Picture 64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31520" y="1500000"/>
            <a:ext cx="7680960" cy="4572"/>
          </a:xfrm>
          <a:prstGeom prst="rect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350000"/>
            <a:ext cx="7680960" cy="4572"/>
          </a:xfrm>
          <a:prstGeom prst="rect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3200000"/>
            <a:ext cx="7680960" cy="4572"/>
          </a:xfrm>
          <a:prstGeom prst="rect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4050000"/>
            <a:ext cx="7680960" cy="4572"/>
          </a:xfrm>
          <a:prstGeom prst="rect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00" y="1100000"/>
            <a:ext cx="27432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00" y="1100000"/>
            <a:ext cx="13716" cy="27432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00000" y="1100000"/>
            <a:ext cx="27432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60000" y="1100000"/>
            <a:ext cx="13716" cy="27432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00" y="4550000"/>
            <a:ext cx="27432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00" y="4280000"/>
            <a:ext cx="13716" cy="274320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00000" y="4550000"/>
            <a:ext cx="27432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60000" y="4280000"/>
            <a:ext cx="13716" cy="274320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80000" y="1100000"/>
            <a:ext cx="27432" cy="27432"/>
          </a:xfrm>
          <a:prstGeom prst="ellipse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 DELIVERY PERFORMANCE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188720"/>
          <a:ext cx="76809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DCC72011-0F7A-4409-80FD-1C1BF414DA1C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25" name="Picture 24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0000" y="1188720"/>
            <a:ext cx="27432" cy="34000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9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9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9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9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9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9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9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9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8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8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8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8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8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8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8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8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7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7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7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7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7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7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7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7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6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6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6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6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644000" y="0"/>
            <a:ext cx="500000" cy="27432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16568" y="0"/>
            <a:ext cx="27432" cy="250000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4763500"/>
            <a:ext cx="15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SLA PERFORMANCE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SLA Metric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Target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Actual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First Response Time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&lt; 1 hour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[X] min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Critical Issue Resolution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&lt; 4 hours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[X] hrs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Standard Issue Resolution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&lt; 8 hours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[X] hrs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System Uptime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99.9%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[X]%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Patch Compliance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95%+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[X]%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Review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" name="Rectangle 4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7058BBBD-27CD-43B5-BFA0-7BCAD79770CE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50" name="Picture 49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200000" y="1800000"/>
            <a:ext cx="8700000" cy="4572"/>
          </a:xfrm>
          <a:prstGeom prst="rect">
            <a:avLst/>
          </a:prstGeom>
          <a:solidFill>
            <a:srgbClr val="242B4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00000" y="2900000"/>
            <a:ext cx="8700000" cy="4572"/>
          </a:xfrm>
          <a:prstGeom prst="rect">
            <a:avLst/>
          </a:prstGeom>
          <a:solidFill>
            <a:srgbClr val="242B4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00000" y="4000000"/>
            <a:ext cx="8700000" cy="4572"/>
          </a:xfrm>
          <a:prstGeom prst="rect">
            <a:avLst/>
          </a:prstGeom>
          <a:solidFill>
            <a:srgbClr val="242B4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50000" y="1200000"/>
            <a:ext cx="4572" cy="3200000"/>
          </a:xfrm>
          <a:prstGeom prst="rect">
            <a:avLst/>
          </a:prstGeom>
          <a:solidFill>
            <a:srgbClr val="242B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50000" y="1200000"/>
            <a:ext cx="4572" cy="3200000"/>
          </a:xfrm>
          <a:prstGeom prst="rect">
            <a:avLst/>
          </a:prstGeom>
          <a:solidFill>
            <a:srgbClr val="242B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250000" y="1200000"/>
            <a:ext cx="4572" cy="3200000"/>
          </a:xfrm>
          <a:prstGeom prst="rect">
            <a:avLst/>
          </a:prstGeom>
          <a:solidFill>
            <a:srgbClr val="242B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50000" y="1200000"/>
            <a:ext cx="4572" cy="3200000"/>
          </a:xfrm>
          <a:prstGeom prst="rect">
            <a:avLst/>
          </a:prstGeom>
          <a:solidFill>
            <a:srgbClr val="242B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850000" y="1200000"/>
            <a:ext cx="4572" cy="3200000"/>
          </a:xfrm>
          <a:prstGeom prst="rect">
            <a:avLst/>
          </a:prstGeom>
          <a:solidFill>
            <a:srgbClr val="242B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" y="1262000"/>
            <a:ext cx="1714500" cy="18288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520" y="2990000"/>
            <a:ext cx="1714500" cy="13716"/>
          </a:xfrm>
          <a:prstGeom prst="rect">
            <a:avLst/>
          </a:prstGeom>
          <a:solidFill>
            <a:srgbClr val="7C8DB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20340" y="1262000"/>
            <a:ext cx="1714500" cy="18288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20340" y="2990000"/>
            <a:ext cx="1714500" cy="13716"/>
          </a:xfrm>
          <a:prstGeom prst="rect">
            <a:avLst/>
          </a:prstGeom>
          <a:solidFill>
            <a:srgbClr val="D4A55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09160" y="1262000"/>
            <a:ext cx="1714500" cy="18288"/>
          </a:xfrm>
          <a:prstGeom prst="rect">
            <a:avLst/>
          </a:prstGeom>
          <a:solidFill>
            <a:srgbClr val="6B4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09160" y="2990000"/>
            <a:ext cx="1714500" cy="13716"/>
          </a:xfrm>
          <a:prstGeom prst="rect">
            <a:avLst/>
          </a:prstGeom>
          <a:solidFill>
            <a:srgbClr val="6B4C7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697980" y="1262000"/>
            <a:ext cx="1714500" cy="18288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697980" y="2990000"/>
            <a:ext cx="1714500" cy="13716"/>
          </a:xfrm>
          <a:prstGeom prst="rect">
            <a:avLst/>
          </a:prstGeom>
          <a:solidFill>
            <a:srgbClr val="7C8DB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744000" y="0"/>
            <a:ext cx="40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16568" y="0"/>
            <a:ext cx="27432" cy="4000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INFRASTRUCTURE HEALTH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4864" cy="1737360"/>
          </a:xfrm>
          <a:prstGeom prst="rect">
            <a:avLst/>
          </a:prstGeom>
          <a:solidFill>
            <a:srgbClr val="7C8D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012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Uptime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RMM (TBD) &gt; Dashboard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2034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720340" y="1280160"/>
            <a:ext cx="54864" cy="1737360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94894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94894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Devices Monitored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4894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RMM (TBD) &gt; Devices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09160" y="1280160"/>
            <a:ext cx="54864" cy="1737360"/>
          </a:xfrm>
          <a:prstGeom prst="rect">
            <a:avLst/>
          </a:prstGeom>
          <a:solidFill>
            <a:srgbClr val="6B4C7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93776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93776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Patch Compliance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RMM (TBD) &gt; Patching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9798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697980" y="1280160"/>
            <a:ext cx="54864" cy="1737360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92658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92658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Alerts Triggered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2658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RMM (TBD) &gt; Alerts</a:t>
            </a:r>
            <a:endParaRPr lang="en-US" sz="900" dirty="0"/>
          </a:p>
        </p:txBody>
      </p:sp>
      <p:sp>
        <p:nvSpPr>
          <p:cNvPr id="44" name="Rectangle 4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3A577AD5-4353-40A3-AE61-88EFB00C345E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50" name="Picture 49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572000" y="1100000"/>
            <a:ext cx="9144" cy="3500000"/>
          </a:xfrm>
          <a:prstGeom prst="rect">
            <a:avLst/>
          </a:prstGeom>
          <a:solidFill>
            <a:srgbClr val="2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65000" y="1100000"/>
            <a:ext cx="22860" cy="22860"/>
          </a:xfrm>
          <a:prstGeom prst="ellipse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65000" y="1900000"/>
            <a:ext cx="22860" cy="22860"/>
          </a:xfrm>
          <a:prstGeom prst="ellipse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65000" y="2700000"/>
            <a:ext cx="22860" cy="22860"/>
          </a:xfrm>
          <a:prstGeom prst="ellipse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65000" y="3500000"/>
            <a:ext cx="22860" cy="22860"/>
          </a:xfrm>
          <a:prstGeom prst="ellipse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65000" y="4300000"/>
            <a:ext cx="22860" cy="22860"/>
          </a:xfrm>
          <a:prstGeom prst="ellipse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0000" y="1100000"/>
            <a:ext cx="3750000" cy="3550000"/>
          </a:xfrm>
          <a:prstGeom prst="roundRect">
            <a:avLst/>
          </a:prstGeom>
          <a:solidFill>
            <a:srgbClr val="181D34">
              <a:alpha val="25000"/>
            </a:srgbClr>
          </a:solidFill>
          <a:ln w="9525">
            <a:solidFill>
              <a:srgbClr val="2E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00000" y="1100000"/>
            <a:ext cx="3750000" cy="3550000"/>
          </a:xfrm>
          <a:prstGeom prst="roundRect">
            <a:avLst/>
          </a:prstGeom>
          <a:solidFill>
            <a:srgbClr val="181D34">
              <a:alpha val="25000"/>
            </a:srgbClr>
          </a:solidFill>
          <a:ln w="9525">
            <a:solidFill>
              <a:srgbClr val="2E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744000" y="0"/>
            <a:ext cx="400000" cy="27432"/>
          </a:xfrm>
          <a:prstGeom prst="rect">
            <a:avLst/>
          </a:prstGeom>
          <a:solidFill>
            <a:srgbClr val="6B4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POSTURE OVERVIEW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7C8D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 State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Secure Score: ___/100  (M365 Security Center)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MFA Adoption: ___%  (Cisco Duo Admin &gt; Users)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EDR Coverage: ___%  (Guardz + SentinelOne)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DNS/Web Security: ___  (Atakama)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 Status: ___  (RMM (TBD) &gt; Backup)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Conditional Access  (Entra ID)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awareness training  (Huntress SAT)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Remediate legacy auth  (Entra ID &gt; Sign-in logs)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Phishing simulations  (Huntress SAT)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SentinelOne coverage  (Guardz + SentinelOne)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597E03C7-4ACF-4043-B812-E87CBACB78C0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29" name="Picture 28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20000" y="1050000"/>
            <a:ext cx="9144" cy="3700000"/>
          </a:xfrm>
          <a:prstGeom prst="rect">
            <a:avLst/>
          </a:prstGeom>
          <a:solidFill>
            <a:srgbClr val="2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11000" y="1200000"/>
            <a:ext cx="27432" cy="27432"/>
          </a:xfrm>
          <a:prstGeom prst="ellipse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11000" y="1950000"/>
            <a:ext cx="27432" cy="27432"/>
          </a:xfrm>
          <a:prstGeom prst="ellipse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11000" y="2700000"/>
            <a:ext cx="27432" cy="27432"/>
          </a:xfrm>
          <a:prstGeom prst="ellipse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11000" y="3450000"/>
            <a:ext cx="27432" cy="27432"/>
          </a:xfrm>
          <a:prstGeom prst="ellipse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11000" y="4200000"/>
            <a:ext cx="27432" cy="27432"/>
          </a:xfrm>
          <a:prstGeom prst="ellipse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44000" y="0"/>
            <a:ext cx="60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16568" y="0"/>
            <a:ext cx="27432" cy="3000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ACCOMPLISHMENTS THIS QUARTER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Highlights from [Quarter] [Year]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[Project — Salesforce &gt; Projects]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[Infra upgrade — RMM (TBD) change log]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[Security win — Guardz/SentinelOne/Huntress reports]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[Process improvement — Salesforce time entries]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[Cost savings — license audit / vendor review]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[Training — Huntress SAT or internal records]</a:t>
            </a:r>
            <a:endParaRPr lang="en-US" sz="1300" dirty="0"/>
          </a:p>
        </p:txBody>
      </p:sp>
      <p:sp>
        <p:nvSpPr>
          <p:cNvPr id="16" name="Rectangle 1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84C6320A-D413-4CAA-BDB8-3F401F490BF4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620000" y="1050000"/>
            <a:ext cx="9144" cy="3700000"/>
          </a:xfrm>
          <a:prstGeom prst="rect">
            <a:avLst/>
          </a:prstGeom>
          <a:solidFill>
            <a:srgbClr val="2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11000" y="1200000"/>
            <a:ext cx="27432" cy="27432"/>
          </a:xfrm>
          <a:prstGeom prst="ellipse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11000" y="1950000"/>
            <a:ext cx="27432" cy="27432"/>
          </a:xfrm>
          <a:prstGeom prst="ellipse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11000" y="2700000"/>
            <a:ext cx="27432" cy="27432"/>
          </a:xfrm>
          <a:prstGeom prst="ellipse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11000" y="3450000"/>
            <a:ext cx="27432" cy="27432"/>
          </a:xfrm>
          <a:prstGeom prst="ellipse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11000" y="4200000"/>
            <a:ext cx="27432" cy="27432"/>
          </a:xfrm>
          <a:prstGeom prst="ellipse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544000" y="0"/>
            <a:ext cx="60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16568" y="0"/>
            <a:ext cx="27432" cy="3000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ISSUES &amp; RISKS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54864" cy="731520"/>
          </a:xfrm>
          <a:prstGeom prst="rect">
            <a:avLst/>
          </a:prstGeom>
          <a:solidFill>
            <a:srgbClr val="E871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822960" cy="228600"/>
          </a:xfrm>
          <a:prstGeom prst="rect">
            <a:avLst/>
          </a:prstGeom>
          <a:solidFill>
            <a:srgbClr val="E8711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0" y="12618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[Issue Title]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15544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Pull from Salesforce open tickets + RMM (TBD) alerts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7680960" cy="7315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54864" cy="7315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822960" cy="228600"/>
          </a:xfrm>
          <a:prstGeom prst="rect">
            <a:avLst/>
          </a:prstGeom>
          <a:solidFill>
            <a:srgbClr val="F5C51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MEDIUM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11680" y="21305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[Issue Title]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24231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Pull from Salesforce tickets + SentinelOne incidents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31520" y="2926080"/>
            <a:ext cx="54864" cy="7315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05840" y="3063240"/>
            <a:ext cx="822960" cy="228600"/>
          </a:xfrm>
          <a:prstGeom prst="rect">
            <a:avLst/>
          </a:prstGeom>
          <a:solidFill>
            <a:srgbClr val="F5C51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MEDIUM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11680" y="29992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[Issue Title]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32918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Pull from Salesforce project board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7680960" cy="7315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31520" y="3794760"/>
            <a:ext cx="54864" cy="731520"/>
          </a:xfrm>
          <a:prstGeom prst="rect">
            <a:avLst/>
          </a:prstGeom>
          <a:solidFill>
            <a:srgbClr val="2EAA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05840" y="3931920"/>
            <a:ext cx="822960" cy="228600"/>
          </a:xfrm>
          <a:prstGeom prst="rect">
            <a:avLst/>
          </a:prstGeom>
          <a:solidFill>
            <a:srgbClr val="2EAA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011680" y="38679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[Issue Title]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11680" y="41605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Pull from RMM (TBD) monitoring policies</a:t>
            </a:r>
            <a:endParaRPr lang="en-US" sz="900" dirty="0"/>
          </a:p>
        </p:txBody>
      </p:sp>
      <p:sp>
        <p:nvSpPr>
          <p:cNvPr id="34" name="Rectangle 3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0F33D221-2F14-4C61-9355-1F7A8C81385B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40" name="Picture 39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680000" y="1188720"/>
            <a:ext cx="27432" cy="34000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9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9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9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9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9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9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9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9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8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8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8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8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8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8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8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8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7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7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7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7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7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7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7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7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6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6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6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6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644000" y="0"/>
            <a:ext cx="500000" cy="27432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116568" y="0"/>
            <a:ext cx="27432" cy="250000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0" y="4763500"/>
            <a:ext cx="15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IT ROADMAP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Initiative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Priority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Timeline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Est. Investment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[Initiative 1]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Q[X] [Year]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$$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[Initiative 2]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Q[X] [Year]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$$$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[Initiative 3]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Q[X] [Year]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$$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[Initiative 4]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Q[X]–Q[X]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[Initiative 5]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Low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Q[X] [Year]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$$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" name="Rectangle 4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BFC57ADD-EAA4-4983-8B31-C071FC3C85B6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55" name="Picture 54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572000" y="1100000"/>
            <a:ext cx="9144" cy="3500000"/>
          </a:xfrm>
          <a:prstGeom prst="rect">
            <a:avLst/>
          </a:prstGeom>
          <a:solidFill>
            <a:srgbClr val="2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65000" y="1100000"/>
            <a:ext cx="22860" cy="22860"/>
          </a:xfrm>
          <a:prstGeom prst="ellipse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65000" y="1900000"/>
            <a:ext cx="22860" cy="22860"/>
          </a:xfrm>
          <a:prstGeom prst="ellipse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65000" y="2700000"/>
            <a:ext cx="22860" cy="22860"/>
          </a:xfrm>
          <a:prstGeom prst="ellipse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65000" y="3500000"/>
            <a:ext cx="22860" cy="22860"/>
          </a:xfrm>
          <a:prstGeom prst="ellipse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65000" y="4300000"/>
            <a:ext cx="22860" cy="22860"/>
          </a:xfrm>
          <a:prstGeom prst="ellipse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0000" y="1100000"/>
            <a:ext cx="3750000" cy="3550000"/>
          </a:xfrm>
          <a:prstGeom prst="roundRect">
            <a:avLst/>
          </a:prstGeom>
          <a:solidFill>
            <a:srgbClr val="181D34">
              <a:alpha val="25000"/>
            </a:srgbClr>
          </a:solidFill>
          <a:ln w="9525">
            <a:solidFill>
              <a:srgbClr val="2E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00000" y="1100000"/>
            <a:ext cx="3750000" cy="3550000"/>
          </a:xfrm>
          <a:prstGeom prst="roundRect">
            <a:avLst/>
          </a:prstGeom>
          <a:solidFill>
            <a:srgbClr val="181D34">
              <a:alpha val="25000"/>
            </a:srgbClr>
          </a:solidFill>
          <a:ln w="9525">
            <a:solidFill>
              <a:srgbClr val="2E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744000" y="0"/>
            <a:ext cx="400000" cy="27432"/>
          </a:xfrm>
          <a:prstGeom prst="rect">
            <a:avLst/>
          </a:prstGeom>
          <a:solidFill>
            <a:srgbClr val="6B4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&amp; UPCOMING RENEWALS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7C8D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Upcoming Renewals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[Vendor] — Renews [Date] — $___/yr  (Salesforce &gt; Agreements)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[Vendor] — Renews [Date] — $___/yr  (Salesforce &gt; Agreements)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[Hardware] — Expires [Date]  (RMM (TBD) &gt; Warranty)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[Support] — Renews [Date]  (Salesforce &gt; Agreements)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Considerations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MSP: $___/mo  (Salesforce &gt; Invoicing)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spend: $___  (Salesforce &gt; Opportunities)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HW refresh: $___  (RMM (TBD) &gt; Device Age)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License savings: $___/yr  (M365 Admin &gt; Licenses)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0C43360E-DE26-43D9-8DF6-98BCA1A6F4E8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29" name="Picture 28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80000" y="1188720"/>
            <a:ext cx="27432" cy="34000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9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9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9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9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9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9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9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9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8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8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8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8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8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8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8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8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7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7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7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7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70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70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70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70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650000" y="15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650000" y="23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650000" y="31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650000" y="3900000"/>
            <a:ext cx="13716" cy="13716"/>
          </a:xfrm>
          <a:prstGeom prst="ellipse">
            <a:avLst/>
          </a:prstGeom>
          <a:solidFill>
            <a:srgbClr val="242B4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644000" y="0"/>
            <a:ext cx="500000" cy="27432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116568" y="0"/>
            <a:ext cx="27432" cy="250000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0" y="4763500"/>
            <a:ext cx="15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8D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 ITEMS &amp; NEXT STEPS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Action Item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Owner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Due Date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Priority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[Action item from this review]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[Name]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[Date]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1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[Action item from this review]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[Name]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[Date]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1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[Action item from this review]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[Name]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[Date]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[Action item from this review]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[Name]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[Date]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[Follow-up from previous QBR]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[Name]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[Date]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Low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4FC495FC-595A-4695-9640-ADF7B6A6AA2E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57" name="Picture 5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3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8DBF"/>
                </a:solidFill>
                <a:latin typeface="Open Sans"/>
              </a:defRPr>
            </a:pPr>
            <a:r>
              <a:rPr>
                <a:solidFill/>
              </a:rPr>
              <a:t>YEAR IN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0000"/>
            <a:ext cx="109728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0000" y="1000000"/>
            <a:ext cx="2000000" cy="120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0000" y="1000000"/>
            <a:ext cx="2000000" cy="3657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0" y="110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8DBF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150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Tickets</a:t>
            </a:r>
            <a:br/>
            <a:r>
              <a:rPr>
                <a:solidFill/>
              </a:rPr>
              <a:t>Resolved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1800000"/>
            <a:ext cx="1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Salesforce &gt;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00000" y="1000000"/>
            <a:ext cx="2000000" cy="120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00000" y="1000000"/>
            <a:ext cx="2000000" cy="3657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00000" y="110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8DBF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150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Projects</a:t>
            </a:r>
            <a:br/>
            <a:r>
              <a:rPr>
                <a:solidFill/>
              </a:rPr>
              <a:t>Completed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0000" y="1800000"/>
            <a:ext cx="1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Salesforce &gt; Projects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00000" y="1000000"/>
            <a:ext cx="2000000" cy="120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00000" y="1000000"/>
            <a:ext cx="2000000" cy="36576"/>
          </a:xfrm>
          <a:prstGeom prst="rect">
            <a:avLst/>
          </a:prstGeom>
          <a:solidFill>
            <a:srgbClr val="6B4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0000" y="110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8DBF"/>
                </a:solidFill>
                <a:latin typeface="Open Sans"/>
              </a:defRPr>
            </a:pPr>
            <a:r>
              <a:rPr>
                <a:solidFill/>
              </a:rPr>
              <a:t>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0000" y="150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Security</a:t>
            </a:r>
            <a:br/>
            <a:r>
              <a:rPr>
                <a:solidFill/>
              </a:rPr>
              <a:t>Incidents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0000" y="1800000"/>
            <a:ext cx="1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Guardz + SentinelOne + Huntress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00000" y="1000000"/>
            <a:ext cx="2000000" cy="120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00000" y="1000000"/>
            <a:ext cx="2000000" cy="3657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00000" y="110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8DBF"/>
                </a:solidFill>
                <a:latin typeface="Open Sans"/>
              </a:defRPr>
            </a:pPr>
            <a:r>
              <a:rPr>
                <a:solidFill/>
              </a:rPr>
              <a:t>___%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0" y="150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Uptime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000" y="1800000"/>
            <a:ext cx="1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RMM (TBD)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400000"/>
            <a:ext cx="7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8DBF"/>
                </a:solidFill>
                <a:latin typeface="Open Sans"/>
              </a:defRPr>
            </a:pPr>
            <a:r>
              <a:rPr>
                <a:solidFill/>
              </a:rPr>
              <a:t>KEY WINS THIS YEAR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2630000"/>
            <a:ext cx="600000" cy="18288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000" y="2700000"/>
            <a:ext cx="7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•  [Win 1 — pull from QBR accomplishments slides]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000" y="2900000"/>
            <a:ext cx="7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•  [Win 2 — pull from QBR accomplishments slides]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000" y="3100000"/>
            <a:ext cx="7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•  [Win 3 — pull from QBR accomplishments slides]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000" y="3300000"/>
            <a:ext cx="7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•  [Win 4 — pull from QBR accomplishments slides]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00000" y="488346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A607A"/>
                </a:solidFill>
                <a:latin typeface="Open Sans"/>
              </a:defRPr>
            </a:p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F7DCEC72-147C-412D-932C-26F467A446F5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sp>
        <p:nvSpPr>
          <p:cNvPr id="37" name="Rectangle 36"/>
          <p:cNvSpPr/>
          <p:nvPr/>
        </p:nvSpPr>
        <p:spPr>
          <a:xfrm>
            <a:off x="8544000" y="0"/>
            <a:ext cx="60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116568" y="0"/>
            <a:ext cx="27432" cy="3000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3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8DBF"/>
                </a:solidFill>
                <a:latin typeface="Open Sans"/>
              </a:defRPr>
            </a:pPr>
            <a:r>
              <a:rPr>
                <a:solidFill/>
              </a:rPr>
              <a:t>VALUE DELIVERED THIS YEAR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0000"/>
            <a:ext cx="109728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0000" y="1000000"/>
            <a:ext cx="7900000" cy="48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0000" y="1000000"/>
            <a:ext cx="36576" cy="4800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0000" y="1030000"/>
            <a:ext cx="3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Security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000" y="1230000"/>
            <a:ext cx="7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Secure Score: ___ → ___  |  Duo MFA: ___% → ___%  |  Breaches: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000" y="1380000"/>
            <a:ext cx="760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M365 + Duo + Guardz + SentinelOne + Huntress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" y="1550000"/>
            <a:ext cx="7900000" cy="48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0000" y="1550000"/>
            <a:ext cx="36576" cy="480000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0000" y="1580000"/>
            <a:ext cx="3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Cost Savings 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000" y="1780000"/>
            <a:ext cx="7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License optimization: $___/yr  |  Vendor savings: $___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000" y="1930000"/>
            <a:ext cx="760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M365 Admin + Salesforce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0000" y="2100000"/>
            <a:ext cx="7900000" cy="48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0000" y="2100000"/>
            <a:ext cx="36576" cy="480000"/>
          </a:xfrm>
          <a:prstGeom prst="rect">
            <a:avLst/>
          </a:prstGeom>
          <a:solidFill>
            <a:srgbClr val="6B4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0000" y="2130000"/>
            <a:ext cx="3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Fewer Disruptions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000" y="2330000"/>
            <a:ext cx="7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Tickets/month: ___ → ___  |  Auto-resolved: ___%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000" y="2480000"/>
            <a:ext cx="760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Salesforce + RMM (TBD)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0000" y="2650000"/>
            <a:ext cx="7900000" cy="48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0000" y="2650000"/>
            <a:ext cx="36576" cy="4800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0000" y="2680000"/>
            <a:ext cx="3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Growth Enabled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000" y="2880000"/>
            <a:ext cx="7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rPr>
                <a:solidFill/>
              </a:rPr>
              <a:t>New users: ___  |  New locations: 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000" y="3030000"/>
            <a:ext cx="760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77"/>
                </a:solidFill>
                <a:latin typeface="Open Sans"/>
              </a:defRPr>
            </a:pPr>
            <a:r>
              <a:rPr>
                <a:solidFill/>
              </a:rPr>
              <a:t>RMM (TBD) + Duo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0000" y="488346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A607A"/>
                </a:solidFill>
                <a:latin typeface="Open Sans"/>
              </a:defRPr>
            </a:p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FFD86EFA-2AB3-4451-872D-6FE3B628041E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sp>
        <p:nvSpPr>
          <p:cNvPr id="31" name="Rectangle 30"/>
          <p:cNvSpPr/>
          <p:nvPr/>
        </p:nvSpPr>
        <p:spPr>
          <a:xfrm>
            <a:off x="8544000" y="0"/>
            <a:ext cx="600000" cy="27432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16568" y="0"/>
            <a:ext cx="27432" cy="3000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420000" cy="35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5000000" y="-1200000"/>
            <a:ext cx="6000000" cy="6000000"/>
          </a:xfrm>
          <a:prstGeom prst="ellipse">
            <a:avLst/>
          </a:prstGeom>
          <a:solidFill>
            <a:srgbClr val="242B4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300000" y="100000"/>
            <a:ext cx="3400000" cy="3400000"/>
          </a:xfrm>
          <a:prstGeom prst="ellipse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" y="0"/>
            <a:ext cx="18288" cy="5143500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000000" y="1500000"/>
            <a:ext cx="54864" cy="54864"/>
          </a:xfrm>
          <a:prstGeom prst="ellipse">
            <a:avLst/>
          </a:prstGeom>
          <a:solidFill>
            <a:srgbClr val="D4A55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200000" y="3000000"/>
            <a:ext cx="54864" cy="54864"/>
          </a:xfrm>
          <a:prstGeom prst="ellipse">
            <a:avLst/>
          </a:prstGeom>
          <a:solidFill>
            <a:srgbClr val="D4A55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000000" y="800000"/>
            <a:ext cx="54864" cy="54864"/>
          </a:xfrm>
          <a:prstGeom prst="ellipse">
            <a:avLst/>
          </a:prstGeom>
          <a:solidFill>
            <a:srgbClr val="D4A55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4A5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[Your Name]  |  [Title]
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  <a:r>
              <a:rPr lang="en-US" sz="700" dirty="0">
                <a:solidFill>
                  <a:srgbClr val="5A607A"/>
                </a:solidFill>
                <a:latin typeface="Open Sans"/>
              </a:rPr>
              <a:t>[name]@Powered by Ducky Intelligence  |  </a:t>
            </a:r>
            <a:fld id="{2648E97D-740D-4845-A397-0EF0728AF8F4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5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E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7C8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D4A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© 2026 Cavaridge, LLC. All rights reserved.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07A"/>
                </a:solidFill>
                <a:latin typeface="Open Sans"/>
              </a:defRPr>
            </a:pPr>
            <a:r>
              <a:rPr>
                <a:solidFill/>
              </a:rPr>
              <a:t>CONFIDENTIAL &amp; PROPRIETARY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07A"/>
                </a:solidFill>
                <a:latin typeface="Open Sans"/>
              </a:defRPr>
            </a:pPr>
            <a:r>
              <a:rPr lang="en-US" sz="700" dirty="0">
                <a:solidFill>
                  <a:srgbClr val="5A607A"/>
                </a:solidFill>
                <a:latin typeface="Open Sans"/>
              </a:rPr>
              <a:t>Powered by Ducky Intelligence  |  </a:t>
            </a:r>
            <a:fld id="{883B36FB-04EC-4A70-930F-E45AC2461C05}" type="slidenum">
              <a:rPr lang="en-US" sz="700" dirty="0">
                <a:solidFill>
                  <a:srgbClr val="5A607A"/>
                </a:solidFill>
                <a:latin typeface="Open Sans"/>
              </a:rPr>
              <a:t>‹#›</a:t>
            </a:fld>
          </a:p>
        </p:txBody>
      </p:sp>
      <p:pic>
        <p:nvPicPr>
          <p:cNvPr id="21" name="Picture 20" descr="cavaridge-logo-white-2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0040"/>
            <a:ext cx="480000" cy="4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5969</Words>
  <Application>Microsoft Macintosh PowerPoint</Application>
  <PresentationFormat>On-screen Show (16:9)</PresentationFormat>
  <Paragraphs>366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Open Sans</vt:lpstr>
      <vt:lpstr>Zapfino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Dedicated IT — Quarterly Business Review (SMB)</dc:title>
  <dc:subject>PptxGenJS Presentation</dc:subject>
  <dc:creator>Benjamin Posner</dc:creator>
  <cp:lastModifiedBy>Benjamin Posner</cp:lastModifiedBy>
  <cp:revision>3</cp:revision>
  <dcterms:created xsi:type="dcterms:W3CDTF">2026-03-24T18:59:36Z</dcterms:created>
  <dcterms:modified xsi:type="dcterms:W3CDTF">2026-03-24T20:15:00Z</dcterms:modified>
</cp:coreProperties>
</file>